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56" r:id="rId2"/>
    <p:sldId id="259" r:id="rId3"/>
    <p:sldId id="260" r:id="rId4"/>
    <p:sldId id="261" r:id="rId5"/>
    <p:sldId id="262" r:id="rId6"/>
    <p:sldId id="263" r:id="rId7"/>
    <p:sldId id="274" r:id="rId8"/>
    <p:sldId id="275" r:id="rId9"/>
    <p:sldId id="276" r:id="rId10"/>
    <p:sldId id="277" r:id="rId11"/>
    <p:sldId id="268" r:id="rId12"/>
    <p:sldId id="269" r:id="rId13"/>
    <p:sldId id="278" r:id="rId14"/>
    <p:sldId id="270" r:id="rId15"/>
    <p:sldId id="272" r:id="rId16"/>
  </p:sldIdLst>
  <p:sldSz cx="9144000" cy="6858000" type="screen4x3"/>
  <p:notesSz cx="6858000" cy="9144000"/>
  <p:defaultTextStyle>
    <a:defPPr>
      <a:defRPr lang="it-IT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zione predefinita" id="{E376C067-160F-3B41-86F3-6D9288E7AFF0}">
          <p14:sldIdLst>
            <p14:sldId id="256"/>
            <p14:sldId id="259"/>
            <p14:sldId id="260"/>
            <p14:sldId id="261"/>
            <p14:sldId id="262"/>
            <p14:sldId id="263"/>
            <p14:sldId id="274"/>
            <p14:sldId id="275"/>
            <p14:sldId id="276"/>
            <p14:sldId id="277"/>
            <p14:sldId id="268"/>
            <p14:sldId id="269"/>
            <p14:sldId id="278"/>
            <p14:sldId id="270"/>
            <p14:sldId id="272"/>
          </p14:sldIdLst>
        </p14:section>
        <p14:section name="Run results" id="{5D26AFBB-FD0C-CB41-B0E5-15414290968A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1806">
          <p15:clr>
            <a:srgbClr val="A4A3A4"/>
          </p15:clr>
        </p15:guide>
        <p15:guide id="2" pos="45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4979"/>
    <a:srgbClr val="003257"/>
    <a:srgbClr val="0030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Stile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Stile chiaro 1 - Color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essuno stile, nessuna grigli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essuno stile, griglia tabel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Stile medio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429" autoAdjust="0"/>
    <p:restoredTop sz="89406"/>
  </p:normalViewPr>
  <p:slideViewPr>
    <p:cSldViewPr snapToGrid="0" snapToObjects="1">
      <p:cViewPr varScale="1">
        <p:scale>
          <a:sx n="70" d="100"/>
          <a:sy n="70" d="100"/>
        </p:scale>
        <p:origin x="1426" y="38"/>
      </p:cViewPr>
      <p:guideLst>
        <p:guide orient="horz" pos="1806"/>
        <p:guide pos="45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BF3CCC-77DD-F84F-A249-CA3C5045A043}" type="datetime1">
              <a:rPr lang="it-IT" smtClean="0"/>
              <a:pPr/>
              <a:t>17/02/2026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CFBF69-E6D8-384B-B1CC-31CC9EB4A4AC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91485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692227-D6DC-FD45-9507-DB2BAD58473C}" type="datetime1">
              <a:rPr lang="it-IT" smtClean="0"/>
              <a:pPr/>
              <a:t>17/02/2026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986711-015B-0142-88C4-65D50E44FA77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6209625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4D78D7-630B-6289-4AFC-D096D4AC8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DED605F3-E8C6-98BD-49F0-796A77FA1B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8841B571-D87A-A636-ED1F-48E375EB16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FAF9EB0-ED00-B6A5-54DD-51B400E9D6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986711-015B-0142-88C4-65D50E44FA77}" type="slidenum">
              <a:rPr lang="it-IT" smtClean="0"/>
              <a:pPr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740598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FB2DDB-3713-9D69-7B9B-FF6ABFE85D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21BBC340-0020-EED3-09A0-927D79F91F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1C1D1EDB-55E3-5077-46AB-7916465871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09A9A29B-7E4A-4D4D-A04E-C5D74A0C5E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986711-015B-0142-88C4-65D50E44FA77}" type="slidenum">
              <a:rPr lang="it-IT" smtClean="0"/>
              <a:pPr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036759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E36051-5CF3-DC86-AA95-7582248C20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8F586032-D237-4985-5C23-84AE291385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2BC59EFE-91A7-11C9-C60E-46AE6A3A14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E6FCC6B1-3D8A-CB60-816C-9EE35060C2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986711-015B-0142-88C4-65D50E44FA77}" type="slidenum">
              <a:rPr lang="it-IT" smtClean="0"/>
              <a:pPr/>
              <a:t>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52139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163BC4-34D7-35F9-CF7D-027721441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9D5BD8F0-82BF-F247-4B97-09E0C8C127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7EDBD64D-A3C9-CA44-4C04-814A80024B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B3F1231-4BBF-6099-6EDB-F35108439F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986711-015B-0142-88C4-65D50E44FA77}" type="slidenum">
              <a:rPr lang="it-IT" smtClean="0"/>
              <a:pPr/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298924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AC7085-AC62-88E2-32FF-657DA6DAC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B798AD4E-3430-872F-E6A4-BB40B0CA9E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A6E69020-6A39-DEC4-7E9B-1F4ACB2FBE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3E092F8-78AE-30A0-BD9A-99D93A32C9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986711-015B-0142-88C4-65D50E44FA77}" type="slidenum">
              <a:rPr lang="it-IT" smtClean="0"/>
              <a:pPr/>
              <a:t>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902387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AC7085-AC62-88E2-32FF-657DA6DAC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B798AD4E-3430-872F-E6A4-BB40B0CA9E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A6E69020-6A39-DEC4-7E9B-1F4ACB2FBE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3E092F8-78AE-30A0-BD9A-99D93A32C9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986711-015B-0142-88C4-65D50E44FA77}" type="slidenum">
              <a:rPr lang="it-IT" smtClean="0"/>
              <a:pPr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886825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AC7085-AC62-88E2-32FF-657DA6DAC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B798AD4E-3430-872F-E6A4-BB40B0CA9E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A6E69020-6A39-DEC4-7E9B-1F4ACB2FBE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3E092F8-78AE-30A0-BD9A-99D93A32C9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986711-015B-0142-88C4-65D50E44FA77}" type="slidenum">
              <a:rPr lang="it-IT" smtClean="0"/>
              <a:pPr/>
              <a:t>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577417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AC7085-AC62-88E2-32FF-657DA6DAC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B798AD4E-3430-872F-E6A4-BB40B0CA9E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A6E69020-6A39-DEC4-7E9B-1F4ACB2FBE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3E092F8-78AE-30A0-BD9A-99D93A32C9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986711-015B-0142-88C4-65D50E44FA77}" type="slidenum">
              <a:rPr lang="it-IT" smtClean="0"/>
              <a:pPr/>
              <a:t>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737086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AC7085-AC62-88E2-32FF-657DA6DAC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B798AD4E-3430-872F-E6A4-BB40B0CA9E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A6E69020-6A39-DEC4-7E9B-1F4ACB2FBE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3E092F8-78AE-30A0-BD9A-99D93A32C9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986711-015B-0142-88C4-65D50E44FA77}" type="slidenum">
              <a:rPr lang="it-IT" smtClean="0"/>
              <a:pPr/>
              <a:t>10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869492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4D8DCD-866A-B337-481B-B5F6EFC6D9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E4E2B89F-12E2-8149-26C1-1CEDB668B1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610A6EC8-399D-62BE-A5CE-12552BCE02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D129061-145F-C757-C3AC-C8017A14F2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986711-015B-0142-88C4-65D50E44FA77}" type="slidenum">
              <a:rPr lang="it-IT" smtClean="0"/>
              <a:pPr/>
              <a:t>11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084604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15808D-88CC-460D-D9D3-F5F1277DA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402A2673-5A69-95DA-C59C-837F2608E1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EDCA540C-9949-32BD-AB7D-379D670613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82DB29A4-0232-D0A0-6F8C-4EEFB624B4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986711-015B-0142-88C4-65D50E44FA77}" type="slidenum">
              <a:rPr lang="it-IT" smtClean="0"/>
              <a:pPr/>
              <a:t>12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000687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15808D-88CC-460D-D9D3-F5F1277DA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402A2673-5A69-95DA-C59C-837F2608E1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EDCA540C-9949-32BD-AB7D-379D670613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82DB29A4-0232-D0A0-6F8C-4EEFB624B4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986711-015B-0142-88C4-65D50E44FA77}" type="slidenum">
              <a:rPr lang="it-IT" smtClean="0"/>
              <a:pPr/>
              <a:t>13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2033707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8A1251-86EF-A48D-9873-033BB4001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888B1B65-F5AB-2911-DFE0-D814CF833B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C1BBB67D-3AE2-B9F1-1971-399AC5A1C2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E25D9386-2251-C370-22AE-AB24333B79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986711-015B-0142-88C4-65D50E44FA77}" type="slidenum">
              <a:rPr lang="it-IT" smtClean="0"/>
              <a:pPr/>
              <a:t>14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786314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C1702D-8D72-3FAB-D924-D8C46B1D9C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34390057-8F7E-CABA-EC65-7E876424CA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652DDB3B-C4D4-1259-CE3D-4EFC735B94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E4F3F80-0A37-1287-35D9-1BF269E9FB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986711-015B-0142-88C4-65D50E44FA77}" type="slidenum">
              <a:rPr lang="it-IT" smtClean="0"/>
              <a:pPr/>
              <a:t>15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137883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BF249-6BAC-CD40-AAE9-334F110649E5}" type="datetimeFigureOut">
              <a:rPr lang="it-IT" smtClean="0"/>
              <a:pPr/>
              <a:t>17/02/2026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8520A-26EA-DE4B-B141-4532FC98FF0E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97240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BF249-6BAC-CD40-AAE9-334F110649E5}" type="datetimeFigureOut">
              <a:rPr lang="it-IT" smtClean="0"/>
              <a:pPr/>
              <a:t>17/02/2026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8520A-26EA-DE4B-B141-4532FC98FF0E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558080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/>
              <a:t>Fare clic per modificare stile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BF249-6BAC-CD40-AAE9-334F110649E5}" type="datetimeFigureOut">
              <a:rPr lang="it-IT" smtClean="0"/>
              <a:pPr/>
              <a:t>17/02/2026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8520A-26EA-DE4B-B141-4532FC98FF0E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383749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nu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BF249-6BAC-CD40-AAE9-334F110649E5}" type="datetimeFigureOut">
              <a:rPr lang="it-IT" smtClean="0"/>
              <a:pPr/>
              <a:t>17/02/2026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8520A-26EA-DE4B-B141-4532FC98FF0E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033819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Fare clic per modificare stile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BF249-6BAC-CD40-AAE9-334F110649E5}" type="datetimeFigureOut">
              <a:rPr lang="it-IT" smtClean="0"/>
              <a:pPr/>
              <a:t>17/02/2026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8520A-26EA-DE4B-B141-4532FC98FF0E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69635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BF249-6BAC-CD40-AAE9-334F110649E5}" type="datetimeFigureOut">
              <a:rPr lang="it-IT" smtClean="0"/>
              <a:pPr/>
              <a:t>17/02/2026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8520A-26EA-DE4B-B141-4532FC98FF0E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360060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BF249-6BAC-CD40-AAE9-334F110649E5}" type="datetimeFigureOut">
              <a:rPr lang="it-IT" smtClean="0"/>
              <a:pPr/>
              <a:t>17/02/2026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8520A-26EA-DE4B-B141-4532FC98FF0E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963217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stile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BF249-6BAC-CD40-AAE9-334F110649E5}" type="datetimeFigureOut">
              <a:rPr lang="it-IT" smtClean="0"/>
              <a:pPr/>
              <a:t>17/02/2026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8520A-26EA-DE4B-B141-4532FC98FF0E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48905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stile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BF249-6BAC-CD40-AAE9-334F110649E5}" type="datetimeFigureOut">
              <a:rPr lang="it-IT" smtClean="0"/>
              <a:pPr/>
              <a:t>17/02/2026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8520A-26EA-DE4B-B141-4532FC98FF0E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496430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BF249-6BAC-CD40-AAE9-334F110649E5}" type="datetimeFigureOut">
              <a:rPr lang="it-IT" smtClean="0"/>
              <a:pPr/>
              <a:t>17/02/2026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8520A-26EA-DE4B-B141-4532FC98FF0E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585632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vertical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BF249-6BAC-CD40-AAE9-334F110649E5}" type="datetimeFigureOut">
              <a:rPr lang="it-IT" smtClean="0"/>
              <a:pPr/>
              <a:t>17/02/2026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8520A-26EA-DE4B-B141-4532FC98FF0E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817748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8BF249-6BAC-CD40-AAE9-334F110649E5}" type="datetimeFigureOut">
              <a:rPr lang="it-IT" smtClean="0"/>
              <a:pPr/>
              <a:t>17/02/2026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B8520A-26EA-DE4B-B141-4532FC98FF0E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379158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magin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8930" y="6347762"/>
            <a:ext cx="2545261" cy="522390"/>
          </a:xfrm>
          <a:prstGeom prst="rect">
            <a:avLst/>
          </a:prstGeom>
        </p:spPr>
      </p:pic>
      <p:pic>
        <p:nvPicPr>
          <p:cNvPr id="4" name="Immagin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369"/>
            <a:ext cx="9144000" cy="6845300"/>
          </a:xfrm>
          <a:prstGeom prst="rect">
            <a:avLst/>
          </a:prstGeom>
        </p:spPr>
      </p:pic>
      <p:sp>
        <p:nvSpPr>
          <p:cNvPr id="8" name="CasellaDiTesto 7"/>
          <p:cNvSpPr txBox="1"/>
          <p:nvPr/>
        </p:nvSpPr>
        <p:spPr>
          <a:xfrm>
            <a:off x="4914900" y="3599919"/>
            <a:ext cx="36296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dirty="0" err="1"/>
              <a:t>Parallel</a:t>
            </a:r>
            <a:r>
              <a:rPr lang="it-IT" dirty="0"/>
              <a:t> Computing</a:t>
            </a:r>
          </a:p>
        </p:txBody>
      </p:sp>
      <p:sp>
        <p:nvSpPr>
          <p:cNvPr id="11" name="CasellaDiTesto 10"/>
          <p:cNvSpPr txBox="1"/>
          <p:nvPr/>
        </p:nvSpPr>
        <p:spPr>
          <a:xfrm>
            <a:off x="6057938" y="4590468"/>
            <a:ext cx="24865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it-IT" sz="1600" b="1" dirty="0">
                <a:latin typeface=""/>
              </a:rPr>
              <a:t>Andrea Bigagli 7036221</a:t>
            </a:r>
          </a:p>
        </p:txBody>
      </p:sp>
      <p:sp>
        <p:nvSpPr>
          <p:cNvPr id="13" name="CasellaDiTesto 12"/>
          <p:cNvSpPr txBox="1"/>
          <p:nvPr/>
        </p:nvSpPr>
        <p:spPr>
          <a:xfrm>
            <a:off x="7008868" y="6474363"/>
            <a:ext cx="14189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it-IT" sz="1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"/>
              </a:rPr>
              <a:t>A.A. 2025/2026</a:t>
            </a:r>
          </a:p>
        </p:txBody>
      </p:sp>
      <p:sp>
        <p:nvSpPr>
          <p:cNvPr id="15" name="CasellaDiTesto 14"/>
          <p:cNvSpPr txBox="1"/>
          <p:nvPr/>
        </p:nvSpPr>
        <p:spPr>
          <a:xfrm>
            <a:off x="2782874" y="2522701"/>
            <a:ext cx="580131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3200" b="1" dirty="0" err="1">
                <a:solidFill>
                  <a:schemeClr val="accent1">
                    <a:lumMod val="75000"/>
                  </a:schemeClr>
                </a:solidFill>
                <a:latin typeface=""/>
              </a:rPr>
              <a:t>Parallel</a:t>
            </a:r>
            <a:r>
              <a:rPr lang="it-IT" sz="3200" b="1" dirty="0">
                <a:solidFill>
                  <a:schemeClr val="accent1">
                    <a:lumMod val="75000"/>
                  </a:schemeClr>
                </a:solidFill>
                <a:latin typeface=""/>
              </a:rPr>
              <a:t> N-</a:t>
            </a:r>
            <a:r>
              <a:rPr lang="it-IT" sz="3200" b="1" dirty="0" err="1">
                <a:solidFill>
                  <a:schemeClr val="accent1">
                    <a:lumMod val="75000"/>
                  </a:schemeClr>
                </a:solidFill>
                <a:latin typeface=""/>
              </a:rPr>
              <a:t>Grams</a:t>
            </a:r>
            <a:r>
              <a:rPr lang="it-IT" sz="3200" b="1" dirty="0">
                <a:solidFill>
                  <a:schemeClr val="accent1">
                    <a:lumMod val="75000"/>
                  </a:schemeClr>
                </a:solidFill>
                <a:latin typeface=""/>
              </a:rPr>
              <a:t> Analysis</a:t>
            </a:r>
          </a:p>
          <a:p>
            <a:pPr algn="r"/>
            <a:r>
              <a:rPr lang="it-IT" sz="3200" b="1" dirty="0">
                <a:solidFill>
                  <a:schemeClr val="accent1">
                    <a:lumMod val="75000"/>
                  </a:schemeClr>
                </a:solidFill>
                <a:latin typeface=""/>
              </a:rPr>
              <a:t>with </a:t>
            </a:r>
            <a:r>
              <a:rPr lang="it-IT" sz="3200" b="1" dirty="0" err="1">
                <a:solidFill>
                  <a:schemeClr val="accent1">
                    <a:lumMod val="75000"/>
                  </a:schemeClr>
                </a:solidFill>
                <a:latin typeface=""/>
              </a:rPr>
              <a:t>OpenMP</a:t>
            </a:r>
            <a:endParaRPr lang="it-IT" sz="3200" b="1" dirty="0">
              <a:solidFill>
                <a:schemeClr val="accent1">
                  <a:lumMod val="75000"/>
                </a:schemeClr>
              </a:solidFill>
              <a:latin typeface=""/>
            </a:endParaRPr>
          </a:p>
        </p:txBody>
      </p:sp>
    </p:spTree>
    <p:extLst>
      <p:ext uri="{BB962C8B-B14F-4D97-AF65-F5344CB8AC3E}">
        <p14:creationId xmlns:p14="http://schemas.microsoft.com/office/powerpoint/2010/main" val="33117144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1D4F15-C2FE-6CFE-806F-14FDD5BFE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306CFE09-9878-BE5B-473B-D18E76A72E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2490" y="0"/>
            <a:ext cx="9180512" cy="6872633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6A979219-6AF7-98B7-F538-49FC5078E2CC}"/>
              </a:ext>
            </a:extLst>
          </p:cNvPr>
          <p:cNvSpPr txBox="1"/>
          <p:nvPr/>
        </p:nvSpPr>
        <p:spPr>
          <a:xfrm>
            <a:off x="648253" y="1305402"/>
            <a:ext cx="46630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b="1" dirty="0" err="1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Introduction</a:t>
            </a:r>
            <a:endParaRPr lang="it-IT" sz="2400" b="1" dirty="0">
              <a:solidFill>
                <a:schemeClr val="accent1">
                  <a:lumMod val="75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3E5B4619-B6E9-9900-FD64-76F385A27E81}"/>
              </a:ext>
            </a:extLst>
          </p:cNvPr>
          <p:cNvSpPr txBox="1"/>
          <p:nvPr/>
        </p:nvSpPr>
        <p:spPr>
          <a:xfrm>
            <a:off x="648253" y="170511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it-IT" dirty="0">
              <a:latin typeface="Arial"/>
              <a:cs typeface="Arial"/>
            </a:endParaRP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148D5E18-0B99-B58B-A31B-A43DD65B9904}"/>
              </a:ext>
            </a:extLst>
          </p:cNvPr>
          <p:cNvSpPr txBox="1"/>
          <p:nvPr/>
        </p:nvSpPr>
        <p:spPr>
          <a:xfrm>
            <a:off x="832984" y="2361321"/>
            <a:ext cx="7819027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N-grams are a fundamental building block in text analysis and </a:t>
            </a:r>
            <a:r>
              <a:rPr lang="en-US" sz="2000" b="1" dirty="0"/>
              <a:t>NLP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Used in applications such as language modeling, search, and text mining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Computing n-grams on large datasets is computationally expensive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Parallel computing can help reduce execution time</a:t>
            </a: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56E677FB-B56C-EC4D-432B-3A639A638B8B}"/>
              </a:ext>
            </a:extLst>
          </p:cNvPr>
          <p:cNvSpPr/>
          <p:nvPr/>
        </p:nvSpPr>
        <p:spPr>
          <a:xfrm>
            <a:off x="8255000" y="6366466"/>
            <a:ext cx="280763" cy="501650"/>
          </a:xfrm>
          <a:prstGeom prst="rect">
            <a:avLst/>
          </a:prstGeom>
          <a:solidFill>
            <a:srgbClr val="00305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03257"/>
              </a:solidFill>
            </a:endParaRPr>
          </a:p>
        </p:txBody>
      </p:sp>
      <p:sp>
        <p:nvSpPr>
          <p:cNvPr id="11" name="Segnaposto numero diapositiva 10">
            <a:extLst>
              <a:ext uri="{FF2B5EF4-FFF2-40B4-BE49-F238E27FC236}">
                <a16:creationId xmlns:a16="http://schemas.microsoft.com/office/drawing/2014/main" id="{B05174EF-FD1B-9501-46F1-61027C996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02163" y="6356350"/>
            <a:ext cx="2133600" cy="365125"/>
          </a:xfrm>
        </p:spPr>
        <p:txBody>
          <a:bodyPr/>
          <a:lstStyle/>
          <a:p>
            <a:fld id="{8EB8520A-26EA-DE4B-B141-4532FC98FF0E}" type="slidenum">
              <a:rPr lang="it-IT" b="1" smtClean="0">
                <a:solidFill>
                  <a:schemeClr val="bg1"/>
                </a:solidFill>
                <a:latin typeface="Arial"/>
                <a:cs typeface="Arial"/>
              </a:rPr>
              <a:pPr/>
              <a:t>2</a:t>
            </a:fld>
            <a:endParaRPr lang="it-IT" b="1" dirty="0">
              <a:solidFill>
                <a:schemeClr val="bg1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450036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9A28B1-9999-2DF0-54EE-1C7EBB139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EA9B952D-4094-FA99-7684-2CE8DFCC86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2490" y="0"/>
            <a:ext cx="9180512" cy="6872633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10A09B3D-E48F-20F9-7E40-3AC4D2178F48}"/>
              </a:ext>
            </a:extLst>
          </p:cNvPr>
          <p:cNvSpPr txBox="1"/>
          <p:nvPr/>
        </p:nvSpPr>
        <p:spPr>
          <a:xfrm>
            <a:off x="648253" y="1305402"/>
            <a:ext cx="46630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b="1" dirty="0" err="1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Problem</a:t>
            </a:r>
            <a:r>
              <a:rPr lang="it-IT" sz="24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 Definition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FE60817D-6F27-A47B-F574-C81F75C9182C}"/>
              </a:ext>
            </a:extLst>
          </p:cNvPr>
          <p:cNvSpPr txBox="1"/>
          <p:nvPr/>
        </p:nvSpPr>
        <p:spPr>
          <a:xfrm>
            <a:off x="648253" y="170511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it-IT" dirty="0">
              <a:latin typeface="Arial"/>
              <a:cs typeface="Arial"/>
            </a:endParaRP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D41A67B9-F118-F76A-D656-E927ADE2BE5D}"/>
              </a:ext>
            </a:extLst>
          </p:cNvPr>
          <p:cNvSpPr txBox="1"/>
          <p:nvPr/>
        </p:nvSpPr>
        <p:spPr>
          <a:xfrm>
            <a:off x="662486" y="2181270"/>
            <a:ext cx="781902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The problem addressed in this project consists in computing the frequency of </a:t>
            </a:r>
            <a:r>
              <a:rPr lang="en-US" sz="1600" b="1" dirty="0"/>
              <a:t>n-grams</a:t>
            </a:r>
            <a:r>
              <a:rPr lang="en-US" sz="1600" dirty="0"/>
              <a:t> extracted from a large textual corpus.</a:t>
            </a:r>
            <a:br>
              <a:rPr lang="en-US" sz="1600" dirty="0"/>
            </a:br>
            <a:r>
              <a:rPr lang="en-US" sz="1600" dirty="0"/>
              <a:t>An n-gram is defined as a contiguous sequence of </a:t>
            </a:r>
            <a:r>
              <a:rPr lang="en-US" sz="1600" b="1" i="1" dirty="0"/>
              <a:t>n</a:t>
            </a:r>
            <a:r>
              <a:rPr lang="en-US" sz="1600" dirty="0"/>
              <a:t> elements extracted from text, where the elements can be either </a:t>
            </a:r>
            <a:r>
              <a:rPr lang="en-US" sz="1600" b="1" dirty="0"/>
              <a:t>words</a:t>
            </a:r>
            <a:r>
              <a:rPr lang="en-US" sz="1600" dirty="0"/>
              <a:t> or </a:t>
            </a:r>
            <a:r>
              <a:rPr lang="en-US" sz="1600" b="1" dirty="0"/>
              <a:t>characters</a:t>
            </a:r>
            <a:r>
              <a:rPr lang="en-US" sz="1600" dirty="0"/>
              <a:t>.</a:t>
            </a:r>
          </a:p>
          <a:p>
            <a:r>
              <a:rPr lang="en-US" sz="1600" dirty="0"/>
              <a:t>Given a text corpus </a:t>
            </a:r>
            <a:r>
              <a:rPr lang="en-US" sz="1600" b="1" i="1" dirty="0"/>
              <a:t>T</a:t>
            </a:r>
            <a:r>
              <a:rPr lang="en-US" sz="1600" dirty="0"/>
              <a:t>, the objective is to generate and count all the n-grams appearing in the dataset for fixed values of </a:t>
            </a:r>
            <a:r>
              <a:rPr lang="en-US" sz="1600" b="1" i="1" dirty="0"/>
              <a:t>n</a:t>
            </a:r>
            <a:r>
              <a:rPr lang="en-US" sz="1600" dirty="0"/>
              <a:t>.</a:t>
            </a: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31DF3F31-C372-BCA2-E773-D911E20F1A86}"/>
              </a:ext>
            </a:extLst>
          </p:cNvPr>
          <p:cNvSpPr/>
          <p:nvPr/>
        </p:nvSpPr>
        <p:spPr>
          <a:xfrm>
            <a:off x="8255000" y="6366466"/>
            <a:ext cx="280763" cy="501650"/>
          </a:xfrm>
          <a:prstGeom prst="rect">
            <a:avLst/>
          </a:prstGeom>
          <a:solidFill>
            <a:srgbClr val="00305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03257"/>
              </a:solidFill>
            </a:endParaRPr>
          </a:p>
        </p:txBody>
      </p:sp>
      <p:sp>
        <p:nvSpPr>
          <p:cNvPr id="11" name="Segnaposto numero diapositiva 10">
            <a:extLst>
              <a:ext uri="{FF2B5EF4-FFF2-40B4-BE49-F238E27FC236}">
                <a16:creationId xmlns:a16="http://schemas.microsoft.com/office/drawing/2014/main" id="{231C6BE5-8E99-CA31-0FB7-F9C4256B6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02163" y="6356350"/>
            <a:ext cx="2133600" cy="365125"/>
          </a:xfrm>
        </p:spPr>
        <p:txBody>
          <a:bodyPr/>
          <a:lstStyle/>
          <a:p>
            <a:fld id="{8EB8520A-26EA-DE4B-B141-4532FC98FF0E}" type="slidenum">
              <a:rPr lang="it-IT" b="1" smtClean="0">
                <a:solidFill>
                  <a:schemeClr val="bg1"/>
                </a:solidFill>
                <a:latin typeface="Arial"/>
                <a:cs typeface="Arial"/>
              </a:rPr>
              <a:pPr/>
              <a:t>3</a:t>
            </a:fld>
            <a:endParaRPr lang="it-IT" b="1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21AA0D64-1BC1-75FA-F6DA-AD13270E641A}"/>
              </a:ext>
            </a:extLst>
          </p:cNvPr>
          <p:cNvSpPr txBox="1"/>
          <p:nvPr/>
        </p:nvSpPr>
        <p:spPr>
          <a:xfrm>
            <a:off x="648252" y="4949720"/>
            <a:ext cx="78190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where </a:t>
            </a:r>
            <a:r>
              <a:rPr lang="en-US" sz="1600" b="1" i="1" dirty="0"/>
              <a:t>T</a:t>
            </a:r>
            <a:r>
              <a:rPr lang="en-US" sz="1600" dirty="0"/>
              <a:t> represents the input text and </a:t>
            </a:r>
            <a:r>
              <a:rPr lang="en-US" sz="1600" b="1" i="1" dirty="0" err="1"/>
              <a:t>g</a:t>
            </a:r>
            <a:r>
              <a:rPr lang="en-US" sz="1200" b="1" i="1" dirty="0" err="1"/>
              <a:t>i</a:t>
            </a:r>
            <a:r>
              <a:rPr lang="en-US" sz="1200" dirty="0"/>
              <a:t>​ </a:t>
            </a:r>
            <a:r>
              <a:rPr lang="en-US" sz="1600" dirty="0"/>
              <a:t>is an n-gram of size </a:t>
            </a:r>
            <a:r>
              <a:rPr lang="en-US" sz="1600" b="1" dirty="0"/>
              <a:t>n</a:t>
            </a:r>
            <a:r>
              <a:rPr lang="en-US" sz="1600" dirty="0"/>
              <a:t>.</a:t>
            </a:r>
            <a:endParaRPr lang="it-IT" sz="1600" dirty="0"/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4F7F155D-06E6-EE47-A954-3598D3F1BA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9958" y="3743314"/>
            <a:ext cx="2936494" cy="1059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2854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E717F9-37A0-9AC7-7A6D-D24893A63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F50AC813-1A65-9FF8-F113-5890C580D4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80512" cy="6872633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64A2BF69-71C6-CB06-6444-E7F62BF1197D}"/>
              </a:ext>
            </a:extLst>
          </p:cNvPr>
          <p:cNvSpPr txBox="1"/>
          <p:nvPr/>
        </p:nvSpPr>
        <p:spPr>
          <a:xfrm>
            <a:off x="648253" y="1305402"/>
            <a:ext cx="46630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Project Goal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2204F97F-1010-018E-4D23-C9379B0B2292}"/>
              </a:ext>
            </a:extLst>
          </p:cNvPr>
          <p:cNvSpPr txBox="1"/>
          <p:nvPr/>
        </p:nvSpPr>
        <p:spPr>
          <a:xfrm>
            <a:off x="648253" y="170511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it-IT" dirty="0">
              <a:latin typeface="Arial"/>
              <a:cs typeface="Arial"/>
            </a:endParaRP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85AC89C8-3CC9-682E-B730-58129E459B47}"/>
              </a:ext>
            </a:extLst>
          </p:cNvPr>
          <p:cNvSpPr txBox="1"/>
          <p:nvPr/>
        </p:nvSpPr>
        <p:spPr>
          <a:xfrm>
            <a:off x="648253" y="2650078"/>
            <a:ext cx="781902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The goal of this project is to compare a sequential and a parallel implementation of </a:t>
            </a:r>
            <a:r>
              <a:rPr lang="en-US" sz="1600" b="1" dirty="0"/>
              <a:t>n-gram counting using OpenMP</a:t>
            </a:r>
            <a:r>
              <a:rPr lang="en-US" sz="1600" dirty="0"/>
              <a:t>.</a:t>
            </a:r>
          </a:p>
          <a:p>
            <a:endParaRPr lang="en-US" sz="1600" dirty="0"/>
          </a:p>
          <a:p>
            <a:r>
              <a:rPr lang="en-US" sz="1600" dirty="0"/>
              <a:t>In this project, the analysis is limited to </a:t>
            </a:r>
            <a:r>
              <a:rPr lang="en-US" sz="1600" b="1" dirty="0"/>
              <a:t>bigrams</a:t>
            </a:r>
            <a:r>
              <a:rPr lang="en-US" sz="1600" dirty="0"/>
              <a:t> and </a:t>
            </a:r>
            <a:r>
              <a:rPr lang="en-US" sz="1600" b="1" dirty="0"/>
              <a:t>trigrams, </a:t>
            </a:r>
            <a:r>
              <a:rPr lang="en-US" sz="1600" dirty="0"/>
              <a:t>both </a:t>
            </a:r>
            <a:r>
              <a:rPr lang="en-US" sz="1600" b="1" dirty="0"/>
              <a:t>word-based</a:t>
            </a:r>
            <a:r>
              <a:rPr lang="en-US" sz="1600" dirty="0"/>
              <a:t> and </a:t>
            </a:r>
            <a:r>
              <a:rPr lang="en-US" sz="1600" b="1" dirty="0"/>
              <a:t>character-based</a:t>
            </a:r>
            <a:r>
              <a:rPr lang="en-US" sz="1600" dirty="0"/>
              <a:t> n-grams are considered.</a:t>
            </a:r>
            <a:endParaRPr lang="it-IT" sz="1600" dirty="0"/>
          </a:p>
          <a:p>
            <a:br>
              <a:rPr lang="en-US" sz="1600" dirty="0"/>
            </a:br>
            <a:r>
              <a:rPr lang="en-US" sz="1600" dirty="0"/>
              <a:t>The objective is to evaluate the impact of parallelization on execution time and speedup when processing large textual datasets.</a:t>
            </a:r>
          </a:p>
          <a:p>
            <a:endParaRPr lang="en-US" sz="1600" dirty="0"/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DD65137B-9F05-8698-6E68-97FCCA24C501}"/>
              </a:ext>
            </a:extLst>
          </p:cNvPr>
          <p:cNvSpPr/>
          <p:nvPr/>
        </p:nvSpPr>
        <p:spPr>
          <a:xfrm>
            <a:off x="8255000" y="6366466"/>
            <a:ext cx="280763" cy="501650"/>
          </a:xfrm>
          <a:prstGeom prst="rect">
            <a:avLst/>
          </a:prstGeom>
          <a:solidFill>
            <a:srgbClr val="00305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03257"/>
              </a:solidFill>
            </a:endParaRPr>
          </a:p>
        </p:txBody>
      </p:sp>
      <p:sp>
        <p:nvSpPr>
          <p:cNvPr id="11" name="Segnaposto numero diapositiva 10">
            <a:extLst>
              <a:ext uri="{FF2B5EF4-FFF2-40B4-BE49-F238E27FC236}">
                <a16:creationId xmlns:a16="http://schemas.microsoft.com/office/drawing/2014/main" id="{2E2597AB-9CBC-270A-F91B-3687CF339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02163" y="6356350"/>
            <a:ext cx="2133600" cy="365125"/>
          </a:xfrm>
        </p:spPr>
        <p:txBody>
          <a:bodyPr/>
          <a:lstStyle/>
          <a:p>
            <a:fld id="{8EB8520A-26EA-DE4B-B141-4532FC98FF0E}" type="slidenum">
              <a:rPr lang="it-IT" b="1" smtClean="0">
                <a:solidFill>
                  <a:schemeClr val="bg1"/>
                </a:solidFill>
                <a:latin typeface="Arial"/>
                <a:cs typeface="Arial"/>
              </a:rPr>
              <a:pPr/>
              <a:t>4</a:t>
            </a:fld>
            <a:endParaRPr lang="it-IT" b="1" dirty="0">
              <a:solidFill>
                <a:schemeClr val="bg1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213528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087465-91C2-4A4E-75AF-FA9020A87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DE76DD04-F729-C6E1-518F-5962990517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6512" y="0"/>
            <a:ext cx="9180512" cy="6872633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B77346F0-846E-6161-95CB-BA65FAD6994C}"/>
              </a:ext>
            </a:extLst>
          </p:cNvPr>
          <p:cNvSpPr txBox="1"/>
          <p:nvPr/>
        </p:nvSpPr>
        <p:spPr>
          <a:xfrm>
            <a:off x="648253" y="1305402"/>
            <a:ext cx="46630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Dataset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9401E369-6D24-3E51-581E-FFB77CE9C780}"/>
              </a:ext>
            </a:extLst>
          </p:cNvPr>
          <p:cNvSpPr txBox="1"/>
          <p:nvPr/>
        </p:nvSpPr>
        <p:spPr>
          <a:xfrm>
            <a:off x="648253" y="170511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it-IT" dirty="0">
              <a:latin typeface="Arial"/>
              <a:cs typeface="Arial"/>
            </a:endParaRP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0E2BDF64-633F-92B0-CA5C-3C31CEC2513E}"/>
              </a:ext>
            </a:extLst>
          </p:cNvPr>
          <p:cNvSpPr txBox="1"/>
          <p:nvPr/>
        </p:nvSpPr>
        <p:spPr>
          <a:xfrm>
            <a:off x="424543" y="2074445"/>
            <a:ext cx="84582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1600" dirty="0"/>
              <a:t>Textual datasets in English were selected from the </a:t>
            </a:r>
            <a:r>
              <a:rPr lang="en-US" sz="1600" b="1" dirty="0"/>
              <a:t>Leipzig Corpora Collection</a:t>
            </a:r>
            <a:r>
              <a:rPr lang="en-US" sz="1600" dirty="0"/>
              <a:t>,</a:t>
            </a:r>
          </a:p>
          <a:p>
            <a:pPr lvl="1"/>
            <a:endParaRPr lang="it-IT" sz="1600" dirty="0"/>
          </a:p>
          <a:p>
            <a:pPr lvl="1"/>
            <a:r>
              <a:rPr lang="en-US" sz="1600" dirty="0"/>
              <a:t>Two different dataset sizes were considered in order to study scalability:</a:t>
            </a:r>
          </a:p>
          <a:p>
            <a:pPr lvl="1"/>
            <a:r>
              <a:rPr lang="en-US" sz="1600" dirty="0"/>
              <a:t>• </a:t>
            </a:r>
            <a:r>
              <a:rPr lang="en-US" sz="1600" b="1" dirty="0"/>
              <a:t>100K</a:t>
            </a:r>
            <a:r>
              <a:rPr lang="en-US" sz="1600" dirty="0"/>
              <a:t> sentences</a:t>
            </a:r>
          </a:p>
          <a:p>
            <a:pPr lvl="1"/>
            <a:r>
              <a:rPr lang="en-US" sz="1600" dirty="0"/>
              <a:t>• </a:t>
            </a:r>
            <a:r>
              <a:rPr lang="en-US" sz="1600" b="1" dirty="0"/>
              <a:t>1M</a:t>
            </a:r>
            <a:r>
              <a:rPr lang="en-US" sz="1600" dirty="0"/>
              <a:t> sentences</a:t>
            </a:r>
          </a:p>
          <a:p>
            <a:pPr lvl="1"/>
            <a:endParaRPr lang="en-US" sz="1600" dirty="0"/>
          </a:p>
          <a:p>
            <a:pPr lvl="1"/>
            <a:endParaRPr lang="en-US" sz="1600" dirty="0"/>
          </a:p>
          <a:p>
            <a:pPr lvl="1"/>
            <a:r>
              <a:rPr lang="en-US" sz="1600" dirty="0"/>
              <a:t>This choice allows the evaluation of parallel overhead on small inputs</a:t>
            </a:r>
          </a:p>
          <a:p>
            <a:pPr lvl="1"/>
            <a:r>
              <a:rPr lang="en-US" sz="1600" dirty="0"/>
              <a:t>and scalability on larger datasets.</a:t>
            </a:r>
            <a:endParaRPr lang="it-IT" sz="1600" dirty="0"/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1667293F-AE28-A78F-F623-505A795E4C0B}"/>
              </a:ext>
            </a:extLst>
          </p:cNvPr>
          <p:cNvSpPr/>
          <p:nvPr/>
        </p:nvSpPr>
        <p:spPr>
          <a:xfrm>
            <a:off x="8255000" y="6366466"/>
            <a:ext cx="280763" cy="501650"/>
          </a:xfrm>
          <a:prstGeom prst="rect">
            <a:avLst/>
          </a:prstGeom>
          <a:solidFill>
            <a:srgbClr val="00305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03257"/>
              </a:solidFill>
            </a:endParaRPr>
          </a:p>
        </p:txBody>
      </p:sp>
      <p:sp>
        <p:nvSpPr>
          <p:cNvPr id="11" name="Segnaposto numero diapositiva 10">
            <a:extLst>
              <a:ext uri="{FF2B5EF4-FFF2-40B4-BE49-F238E27FC236}">
                <a16:creationId xmlns:a16="http://schemas.microsoft.com/office/drawing/2014/main" id="{7959F735-A749-5DF0-EBE9-9EE0E7A68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02163" y="6356350"/>
            <a:ext cx="2133600" cy="365125"/>
          </a:xfrm>
        </p:spPr>
        <p:txBody>
          <a:bodyPr/>
          <a:lstStyle/>
          <a:p>
            <a:fld id="{8EB8520A-26EA-DE4B-B141-4532FC98FF0E}" type="slidenum">
              <a:rPr lang="it-IT" b="1" smtClean="0">
                <a:solidFill>
                  <a:schemeClr val="bg1"/>
                </a:solidFill>
                <a:latin typeface="Arial"/>
                <a:cs typeface="Arial"/>
              </a:rPr>
              <a:pPr/>
              <a:t>5</a:t>
            </a:fld>
            <a:endParaRPr lang="it-IT" b="1" dirty="0">
              <a:solidFill>
                <a:schemeClr val="bg1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95835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C2F017-432B-4C80-2290-D7E42CD16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Immagine 29">
            <a:extLst>
              <a:ext uri="{FF2B5EF4-FFF2-40B4-BE49-F238E27FC236}">
                <a16:creationId xmlns:a16="http://schemas.microsoft.com/office/drawing/2014/main" id="{E3B26560-19A3-592A-50DF-36142A967C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6512" y="0"/>
            <a:ext cx="9180512" cy="6872633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D903DBA5-07D1-8C2C-DC6E-159CEC4EBAF6}"/>
              </a:ext>
            </a:extLst>
          </p:cNvPr>
          <p:cNvSpPr txBox="1"/>
          <p:nvPr/>
        </p:nvSpPr>
        <p:spPr>
          <a:xfrm>
            <a:off x="572053" y="1305402"/>
            <a:ext cx="46630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Text </a:t>
            </a:r>
            <a:r>
              <a:rPr lang="it-IT" sz="2400" b="1" dirty="0" err="1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Preprocessing</a:t>
            </a:r>
            <a:endParaRPr lang="it-IT" sz="2400" b="1" dirty="0">
              <a:solidFill>
                <a:schemeClr val="accent1">
                  <a:lumMod val="75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ADC2B60E-35E2-27B8-01C6-B35B03AA3F8F}"/>
              </a:ext>
            </a:extLst>
          </p:cNvPr>
          <p:cNvSpPr txBox="1"/>
          <p:nvPr/>
        </p:nvSpPr>
        <p:spPr>
          <a:xfrm>
            <a:off x="648253" y="170511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it-IT" dirty="0">
              <a:latin typeface="Arial"/>
              <a:cs typeface="Arial"/>
            </a:endParaRP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7EF877A2-7357-04E7-0169-2AE31ACB03AB}"/>
              </a:ext>
            </a:extLst>
          </p:cNvPr>
          <p:cNvSpPr/>
          <p:nvPr/>
        </p:nvSpPr>
        <p:spPr>
          <a:xfrm>
            <a:off x="8255000" y="6366466"/>
            <a:ext cx="280763" cy="501650"/>
          </a:xfrm>
          <a:prstGeom prst="rect">
            <a:avLst/>
          </a:prstGeom>
          <a:solidFill>
            <a:srgbClr val="00305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03257"/>
              </a:solidFill>
            </a:endParaRPr>
          </a:p>
        </p:txBody>
      </p:sp>
      <p:sp>
        <p:nvSpPr>
          <p:cNvPr id="11" name="Segnaposto numero diapositiva 10">
            <a:extLst>
              <a:ext uri="{FF2B5EF4-FFF2-40B4-BE49-F238E27FC236}">
                <a16:creationId xmlns:a16="http://schemas.microsoft.com/office/drawing/2014/main" id="{57F9D401-3B5E-F469-7855-9C58321C2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02163" y="6356350"/>
            <a:ext cx="2133600" cy="365125"/>
          </a:xfrm>
        </p:spPr>
        <p:txBody>
          <a:bodyPr/>
          <a:lstStyle/>
          <a:p>
            <a:fld id="{8EB8520A-26EA-DE4B-B141-4532FC98FF0E}" type="slidenum">
              <a:rPr lang="it-IT" b="1" smtClean="0">
                <a:solidFill>
                  <a:schemeClr val="bg1"/>
                </a:solidFill>
                <a:latin typeface="Arial"/>
                <a:cs typeface="Arial"/>
              </a:rPr>
              <a:pPr/>
              <a:t>6</a:t>
            </a:fld>
            <a:endParaRPr lang="it-IT" b="1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5B2189E4-10E8-06A9-82EC-1D468ADC3004}"/>
              </a:ext>
            </a:extLst>
          </p:cNvPr>
          <p:cNvSpPr txBox="1"/>
          <p:nvPr/>
        </p:nvSpPr>
        <p:spPr>
          <a:xfrm>
            <a:off x="6244683" y="4198803"/>
            <a:ext cx="14691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solidFill>
                  <a:srgbClr val="0070C0"/>
                </a:solidFill>
              </a:rPr>
              <a:t>	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08DD9030-B8A4-A3EF-1D3E-7C00BEFBA8E1}"/>
              </a:ext>
            </a:extLst>
          </p:cNvPr>
          <p:cNvSpPr txBox="1"/>
          <p:nvPr/>
        </p:nvSpPr>
        <p:spPr>
          <a:xfrm>
            <a:off x="909184" y="2055040"/>
            <a:ext cx="644466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1600" dirty="0"/>
              <a:t>Before computing </a:t>
            </a:r>
            <a:r>
              <a:rPr lang="en-US" sz="1600" b="1" dirty="0"/>
              <a:t>n-grams</a:t>
            </a:r>
            <a:r>
              <a:rPr lang="en-US" sz="1600" dirty="0"/>
              <a:t>, the input text is normalized in order to</a:t>
            </a:r>
          </a:p>
          <a:p>
            <a:pPr lvl="1"/>
            <a:r>
              <a:rPr lang="en-US" sz="1600" dirty="0"/>
              <a:t>ensure consistent tokenization and fair performance comparisons.</a:t>
            </a:r>
          </a:p>
          <a:p>
            <a:pPr lvl="1"/>
            <a:endParaRPr lang="en-US" sz="1600" dirty="0"/>
          </a:p>
          <a:p>
            <a:pPr lvl="1"/>
            <a:r>
              <a:rPr lang="en-US" sz="1600" dirty="0"/>
              <a:t>The preprocessing pipeline includes:</a:t>
            </a:r>
          </a:p>
          <a:p>
            <a:pPr lvl="1"/>
            <a:r>
              <a:rPr lang="en-US" sz="1600" dirty="0"/>
              <a:t>• Conversion to </a:t>
            </a:r>
            <a:r>
              <a:rPr lang="en-US" sz="1600" b="1" dirty="0"/>
              <a:t>lowercase</a:t>
            </a:r>
          </a:p>
          <a:p>
            <a:pPr lvl="1"/>
            <a:r>
              <a:rPr lang="en-US" sz="1600" dirty="0"/>
              <a:t>• Removal of </a:t>
            </a:r>
            <a:r>
              <a:rPr lang="en-US" sz="1600" b="1" dirty="0"/>
              <a:t>non-ASCII characters</a:t>
            </a:r>
          </a:p>
          <a:p>
            <a:pPr lvl="1"/>
            <a:r>
              <a:rPr lang="en-US" sz="1600" dirty="0"/>
              <a:t>• Punctuation </a:t>
            </a:r>
            <a:r>
              <a:rPr lang="en-US" sz="1600" b="1" dirty="0"/>
              <a:t>handling and apostrophe removal</a:t>
            </a:r>
          </a:p>
          <a:p>
            <a:pPr lvl="1"/>
            <a:r>
              <a:rPr lang="en-US" sz="1600" dirty="0"/>
              <a:t>• Preservation of internal hyphens (e.g., </a:t>
            </a:r>
            <a:r>
              <a:rPr lang="en-US" sz="1600" b="1" i="1" dirty="0"/>
              <a:t>t-shirt</a:t>
            </a:r>
            <a:r>
              <a:rPr lang="en-US" sz="1600" dirty="0"/>
              <a:t>)</a:t>
            </a:r>
          </a:p>
          <a:p>
            <a:pPr lvl="1"/>
            <a:r>
              <a:rPr lang="en-US" sz="1600" dirty="0"/>
              <a:t>• </a:t>
            </a:r>
            <a:r>
              <a:rPr lang="en-US" sz="1600" b="1" dirty="0"/>
              <a:t>Tokenization</a:t>
            </a:r>
            <a:r>
              <a:rPr lang="en-US" sz="1600" dirty="0"/>
              <a:t> into words</a:t>
            </a:r>
          </a:p>
          <a:p>
            <a:pPr lvl="1"/>
            <a:endParaRPr lang="en-US" sz="1600" dirty="0"/>
          </a:p>
          <a:p>
            <a:pPr lvl="1"/>
            <a:r>
              <a:rPr lang="en-US" sz="1600" dirty="0"/>
              <a:t>The same preprocessing steps are applied to both the sequential</a:t>
            </a:r>
          </a:p>
          <a:p>
            <a:pPr lvl="1"/>
            <a:r>
              <a:rPr lang="en-US" sz="1600" dirty="0"/>
              <a:t>and parallel implementations.</a:t>
            </a:r>
          </a:p>
        </p:txBody>
      </p:sp>
    </p:spTree>
    <p:extLst>
      <p:ext uri="{BB962C8B-B14F-4D97-AF65-F5344CB8AC3E}">
        <p14:creationId xmlns:p14="http://schemas.microsoft.com/office/powerpoint/2010/main" val="289721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C2F017-432B-4C80-2290-D7E42CD16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Immagine 29">
            <a:extLst>
              <a:ext uri="{FF2B5EF4-FFF2-40B4-BE49-F238E27FC236}">
                <a16:creationId xmlns:a16="http://schemas.microsoft.com/office/drawing/2014/main" id="{E3B26560-19A3-592A-50DF-36142A967C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80512" cy="6872633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D903DBA5-07D1-8C2C-DC6E-159CEC4EBAF6}"/>
              </a:ext>
            </a:extLst>
          </p:cNvPr>
          <p:cNvSpPr txBox="1"/>
          <p:nvPr/>
        </p:nvSpPr>
        <p:spPr>
          <a:xfrm>
            <a:off x="572053" y="1305402"/>
            <a:ext cx="46630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b="1" dirty="0" err="1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Sequential</a:t>
            </a:r>
            <a:r>
              <a:rPr lang="it-IT" sz="24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 </a:t>
            </a:r>
            <a:r>
              <a:rPr lang="it-IT" sz="2400" b="1" dirty="0" err="1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Implementation</a:t>
            </a:r>
            <a:endParaRPr lang="it-IT" sz="2400" b="1" dirty="0">
              <a:solidFill>
                <a:schemeClr val="accent1">
                  <a:lumMod val="75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ADC2B60E-35E2-27B8-01C6-B35B03AA3F8F}"/>
              </a:ext>
            </a:extLst>
          </p:cNvPr>
          <p:cNvSpPr txBox="1"/>
          <p:nvPr/>
        </p:nvSpPr>
        <p:spPr>
          <a:xfrm>
            <a:off x="648253" y="170511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it-IT" dirty="0">
              <a:latin typeface="Arial"/>
              <a:cs typeface="Arial"/>
            </a:endParaRP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7EF877A2-7357-04E7-0169-2AE31ACB03AB}"/>
              </a:ext>
            </a:extLst>
          </p:cNvPr>
          <p:cNvSpPr/>
          <p:nvPr/>
        </p:nvSpPr>
        <p:spPr>
          <a:xfrm>
            <a:off x="8255000" y="6366466"/>
            <a:ext cx="280763" cy="501650"/>
          </a:xfrm>
          <a:prstGeom prst="rect">
            <a:avLst/>
          </a:prstGeom>
          <a:solidFill>
            <a:srgbClr val="00305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03257"/>
              </a:solidFill>
            </a:endParaRPr>
          </a:p>
        </p:txBody>
      </p:sp>
      <p:sp>
        <p:nvSpPr>
          <p:cNvPr id="11" name="Segnaposto numero diapositiva 10">
            <a:extLst>
              <a:ext uri="{FF2B5EF4-FFF2-40B4-BE49-F238E27FC236}">
                <a16:creationId xmlns:a16="http://schemas.microsoft.com/office/drawing/2014/main" id="{57F9D401-3B5E-F469-7855-9C58321C2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02163" y="6356350"/>
            <a:ext cx="2133600" cy="365125"/>
          </a:xfrm>
        </p:spPr>
        <p:txBody>
          <a:bodyPr/>
          <a:lstStyle/>
          <a:p>
            <a:fld id="{8EB8520A-26EA-DE4B-B141-4532FC98FF0E}" type="slidenum">
              <a:rPr lang="it-IT" b="1" smtClean="0">
                <a:solidFill>
                  <a:schemeClr val="bg1"/>
                </a:solidFill>
                <a:latin typeface="Arial"/>
                <a:cs typeface="Arial"/>
              </a:rPr>
              <a:pPr/>
              <a:t>7</a:t>
            </a:fld>
            <a:endParaRPr lang="it-IT" b="1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5B2189E4-10E8-06A9-82EC-1D468ADC3004}"/>
              </a:ext>
            </a:extLst>
          </p:cNvPr>
          <p:cNvSpPr txBox="1"/>
          <p:nvPr/>
        </p:nvSpPr>
        <p:spPr>
          <a:xfrm>
            <a:off x="6244683" y="4198803"/>
            <a:ext cx="14691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solidFill>
                  <a:srgbClr val="0070C0"/>
                </a:solidFill>
              </a:rPr>
              <a:t>	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08DD9030-B8A4-A3EF-1D3E-7C00BEFBA8E1}"/>
              </a:ext>
            </a:extLst>
          </p:cNvPr>
          <p:cNvSpPr txBox="1"/>
          <p:nvPr/>
        </p:nvSpPr>
        <p:spPr>
          <a:xfrm>
            <a:off x="457200" y="1881264"/>
            <a:ext cx="4204256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en-US" sz="1600" dirty="0"/>
              <a:t>The sequential implementation represents the baseline version of the project.</a:t>
            </a:r>
          </a:p>
          <a:p>
            <a:pPr marL="0" lvl="1"/>
            <a:endParaRPr lang="en-US" sz="1600" dirty="0"/>
          </a:p>
          <a:p>
            <a:pPr marL="0" lvl="1"/>
            <a:r>
              <a:rPr lang="en-US" sz="1600" dirty="0"/>
              <a:t>The input dataset is processed </a:t>
            </a:r>
            <a:r>
              <a:rPr lang="en-US" sz="1600" b="1" dirty="0"/>
              <a:t>line by line</a:t>
            </a:r>
            <a:r>
              <a:rPr lang="en-US" sz="1600" dirty="0"/>
              <a:t>.</a:t>
            </a:r>
          </a:p>
          <a:p>
            <a:pPr marL="0" lvl="1"/>
            <a:r>
              <a:rPr lang="en-US" sz="1600" b="1" dirty="0"/>
              <a:t>For each line, the text is preprocessed and tokenized</a:t>
            </a:r>
            <a:r>
              <a:rPr lang="en-US" sz="1600" dirty="0"/>
              <a:t>.</a:t>
            </a:r>
          </a:p>
          <a:p>
            <a:pPr marL="0" lvl="1"/>
            <a:endParaRPr lang="en-US" sz="1600" dirty="0"/>
          </a:p>
          <a:p>
            <a:pPr marL="0" lvl="1"/>
            <a:r>
              <a:rPr lang="en-US" sz="1600" dirty="0"/>
              <a:t>Word-based and character-based n-grams are generated and counted using </a:t>
            </a:r>
            <a:r>
              <a:rPr lang="en-US" sz="1600" b="1" dirty="0"/>
              <a:t>hash-based frequency maps</a:t>
            </a:r>
            <a:r>
              <a:rPr lang="en-US" sz="1600" dirty="0"/>
              <a:t>.</a:t>
            </a:r>
          </a:p>
          <a:p>
            <a:pPr marL="0" lvl="1"/>
            <a:endParaRPr lang="en-US" sz="1600" dirty="0"/>
          </a:p>
          <a:p>
            <a:pPr marL="0" lvl="1"/>
            <a:r>
              <a:rPr lang="en-US" sz="1600" dirty="0"/>
              <a:t>This implementation is used as a reference to evaluate the performance of the parallel solution.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81502981-D6EE-73B8-9AE2-55926E26BB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1456" y="2252968"/>
            <a:ext cx="4296797" cy="3027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756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C2F017-432B-4C80-2290-D7E42CD16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Immagine 29">
            <a:extLst>
              <a:ext uri="{FF2B5EF4-FFF2-40B4-BE49-F238E27FC236}">
                <a16:creationId xmlns:a16="http://schemas.microsoft.com/office/drawing/2014/main" id="{E3B26560-19A3-592A-50DF-36142A967C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80512" cy="6872633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D903DBA5-07D1-8C2C-DC6E-159CEC4EBAF6}"/>
              </a:ext>
            </a:extLst>
          </p:cNvPr>
          <p:cNvSpPr txBox="1"/>
          <p:nvPr/>
        </p:nvSpPr>
        <p:spPr>
          <a:xfrm>
            <a:off x="572053" y="1305402"/>
            <a:ext cx="54695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b="1" dirty="0" err="1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Parallel</a:t>
            </a:r>
            <a:r>
              <a:rPr lang="it-IT" sz="24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 </a:t>
            </a:r>
            <a:r>
              <a:rPr lang="it-IT" sz="2400" b="1" dirty="0" err="1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Implementation</a:t>
            </a:r>
            <a:r>
              <a:rPr lang="it-IT" sz="24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 - </a:t>
            </a:r>
            <a:r>
              <a:rPr lang="it-IT" sz="2400" b="1" dirty="0" err="1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Overview</a:t>
            </a:r>
            <a:endParaRPr lang="it-IT" sz="2400" b="1" dirty="0">
              <a:solidFill>
                <a:schemeClr val="accent1">
                  <a:lumMod val="75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ADC2B60E-35E2-27B8-01C6-B35B03AA3F8F}"/>
              </a:ext>
            </a:extLst>
          </p:cNvPr>
          <p:cNvSpPr txBox="1"/>
          <p:nvPr/>
        </p:nvSpPr>
        <p:spPr>
          <a:xfrm>
            <a:off x="648253" y="170511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it-IT" dirty="0">
              <a:latin typeface="Arial"/>
              <a:cs typeface="Arial"/>
            </a:endParaRP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7EF877A2-7357-04E7-0169-2AE31ACB03AB}"/>
              </a:ext>
            </a:extLst>
          </p:cNvPr>
          <p:cNvSpPr/>
          <p:nvPr/>
        </p:nvSpPr>
        <p:spPr>
          <a:xfrm>
            <a:off x="8255000" y="6366466"/>
            <a:ext cx="280763" cy="501650"/>
          </a:xfrm>
          <a:prstGeom prst="rect">
            <a:avLst/>
          </a:prstGeom>
          <a:solidFill>
            <a:srgbClr val="00305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03257"/>
              </a:solidFill>
            </a:endParaRPr>
          </a:p>
        </p:txBody>
      </p:sp>
      <p:sp>
        <p:nvSpPr>
          <p:cNvPr id="11" name="Segnaposto numero diapositiva 10">
            <a:extLst>
              <a:ext uri="{FF2B5EF4-FFF2-40B4-BE49-F238E27FC236}">
                <a16:creationId xmlns:a16="http://schemas.microsoft.com/office/drawing/2014/main" id="{57F9D401-3B5E-F469-7855-9C58321C2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02163" y="6356350"/>
            <a:ext cx="2133600" cy="365125"/>
          </a:xfrm>
        </p:spPr>
        <p:txBody>
          <a:bodyPr/>
          <a:lstStyle/>
          <a:p>
            <a:fld id="{8EB8520A-26EA-DE4B-B141-4532FC98FF0E}" type="slidenum">
              <a:rPr lang="it-IT" b="1" smtClean="0">
                <a:solidFill>
                  <a:schemeClr val="bg1"/>
                </a:solidFill>
                <a:latin typeface="Arial"/>
                <a:cs typeface="Arial"/>
              </a:rPr>
              <a:pPr/>
              <a:t>8</a:t>
            </a:fld>
            <a:endParaRPr lang="it-IT" b="1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5B2189E4-10E8-06A9-82EC-1D468ADC3004}"/>
              </a:ext>
            </a:extLst>
          </p:cNvPr>
          <p:cNvSpPr txBox="1"/>
          <p:nvPr/>
        </p:nvSpPr>
        <p:spPr>
          <a:xfrm>
            <a:off x="6244683" y="4198803"/>
            <a:ext cx="14691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solidFill>
                  <a:srgbClr val="0070C0"/>
                </a:solidFill>
              </a:rPr>
              <a:t>	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08DD9030-B8A4-A3EF-1D3E-7C00BEFBA8E1}"/>
              </a:ext>
            </a:extLst>
          </p:cNvPr>
          <p:cNvSpPr txBox="1"/>
          <p:nvPr/>
        </p:nvSpPr>
        <p:spPr>
          <a:xfrm>
            <a:off x="170404" y="2053696"/>
            <a:ext cx="4386253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1600" dirty="0"/>
              <a:t>The parallel implementation is based on </a:t>
            </a:r>
            <a:r>
              <a:rPr lang="en-US" sz="1600" b="1" dirty="0"/>
              <a:t>OpenMP</a:t>
            </a:r>
            <a:r>
              <a:rPr lang="en-US" sz="1600" dirty="0"/>
              <a:t> and targets </a:t>
            </a:r>
            <a:r>
              <a:rPr lang="en-US" sz="1600" b="1" dirty="0"/>
              <a:t>shared-memory architectures</a:t>
            </a:r>
            <a:r>
              <a:rPr lang="en-US" sz="1600" dirty="0"/>
              <a:t>.</a:t>
            </a:r>
          </a:p>
          <a:p>
            <a:pPr lvl="1"/>
            <a:endParaRPr lang="en-US" sz="1600" dirty="0"/>
          </a:p>
          <a:p>
            <a:pPr lvl="1"/>
            <a:r>
              <a:rPr lang="en-US" sz="1600" dirty="0"/>
              <a:t>The overall logic follows the sequential version, but the workload is distributed among </a:t>
            </a:r>
            <a:r>
              <a:rPr lang="en-US" sz="1600" b="1" dirty="0"/>
              <a:t>multiple threads</a:t>
            </a:r>
            <a:r>
              <a:rPr lang="en-US" sz="1600" dirty="0"/>
              <a:t>.</a:t>
            </a:r>
          </a:p>
          <a:p>
            <a:pPr lvl="1"/>
            <a:endParaRPr lang="en-US" sz="1600" dirty="0"/>
          </a:p>
          <a:p>
            <a:pPr lvl="1"/>
            <a:r>
              <a:rPr lang="en-US" sz="1600" dirty="0"/>
              <a:t>Each thread processes an independent portion of the input data, enabling thread-level data parallelism.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07D2C911-8714-449F-7DD4-37078B7F3FE7}"/>
              </a:ext>
            </a:extLst>
          </p:cNvPr>
          <p:cNvSpPr txBox="1"/>
          <p:nvPr/>
        </p:nvSpPr>
        <p:spPr>
          <a:xfrm>
            <a:off x="4209036" y="2036861"/>
            <a:ext cx="438625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400" dirty="0"/>
              <a:t>Parallelization key ideas:</a:t>
            </a:r>
          </a:p>
          <a:p>
            <a:pPr lvl="1"/>
            <a:endParaRPr lang="en-US" sz="2400" dirty="0"/>
          </a:p>
          <a:p>
            <a:pPr lvl="1"/>
            <a:r>
              <a:rPr lang="en-US" sz="2400" dirty="0"/>
              <a:t>• Same algorithmic structure</a:t>
            </a:r>
          </a:p>
          <a:p>
            <a:pPr lvl="1"/>
            <a:r>
              <a:rPr lang="en-US" sz="2400" dirty="0"/>
              <a:t>• Independent data chunks</a:t>
            </a:r>
          </a:p>
          <a:p>
            <a:pPr lvl="1"/>
            <a:r>
              <a:rPr lang="en-US" sz="2400" dirty="0"/>
              <a:t>• Thread-level parallelism</a:t>
            </a:r>
          </a:p>
        </p:txBody>
      </p:sp>
    </p:spTree>
    <p:extLst>
      <p:ext uri="{BB962C8B-B14F-4D97-AF65-F5344CB8AC3E}">
        <p14:creationId xmlns:p14="http://schemas.microsoft.com/office/powerpoint/2010/main" val="2576826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C2F017-432B-4C80-2290-D7E42CD16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Immagine 29">
            <a:extLst>
              <a:ext uri="{FF2B5EF4-FFF2-40B4-BE49-F238E27FC236}">
                <a16:creationId xmlns:a16="http://schemas.microsoft.com/office/drawing/2014/main" id="{E3B26560-19A3-592A-50DF-36142A967C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6512" y="0"/>
            <a:ext cx="9180512" cy="6872633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D903DBA5-07D1-8C2C-DC6E-159CEC4EBAF6}"/>
              </a:ext>
            </a:extLst>
          </p:cNvPr>
          <p:cNvSpPr txBox="1"/>
          <p:nvPr/>
        </p:nvSpPr>
        <p:spPr>
          <a:xfrm>
            <a:off x="572053" y="1305402"/>
            <a:ext cx="54695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b="1" dirty="0" err="1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Parallelization</a:t>
            </a:r>
            <a:r>
              <a:rPr lang="it-IT" sz="24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 Strategy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ADC2B60E-35E2-27B8-01C6-B35B03AA3F8F}"/>
              </a:ext>
            </a:extLst>
          </p:cNvPr>
          <p:cNvSpPr txBox="1"/>
          <p:nvPr/>
        </p:nvSpPr>
        <p:spPr>
          <a:xfrm>
            <a:off x="648253" y="170511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it-IT" dirty="0">
              <a:latin typeface="Arial"/>
              <a:cs typeface="Arial"/>
            </a:endParaRP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7EF877A2-7357-04E7-0169-2AE31ACB03AB}"/>
              </a:ext>
            </a:extLst>
          </p:cNvPr>
          <p:cNvSpPr/>
          <p:nvPr/>
        </p:nvSpPr>
        <p:spPr>
          <a:xfrm>
            <a:off x="8255000" y="6366466"/>
            <a:ext cx="280763" cy="501650"/>
          </a:xfrm>
          <a:prstGeom prst="rect">
            <a:avLst/>
          </a:prstGeom>
          <a:solidFill>
            <a:srgbClr val="00305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03257"/>
              </a:solidFill>
            </a:endParaRPr>
          </a:p>
        </p:txBody>
      </p:sp>
      <p:sp>
        <p:nvSpPr>
          <p:cNvPr id="11" name="Segnaposto numero diapositiva 10">
            <a:extLst>
              <a:ext uri="{FF2B5EF4-FFF2-40B4-BE49-F238E27FC236}">
                <a16:creationId xmlns:a16="http://schemas.microsoft.com/office/drawing/2014/main" id="{57F9D401-3B5E-F469-7855-9C58321C2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02163" y="6356350"/>
            <a:ext cx="2133600" cy="365125"/>
          </a:xfrm>
        </p:spPr>
        <p:txBody>
          <a:bodyPr/>
          <a:lstStyle/>
          <a:p>
            <a:fld id="{8EB8520A-26EA-DE4B-B141-4532FC98FF0E}" type="slidenum">
              <a:rPr lang="it-IT" b="1" smtClean="0">
                <a:solidFill>
                  <a:schemeClr val="bg1"/>
                </a:solidFill>
                <a:latin typeface="Arial"/>
                <a:cs typeface="Arial"/>
              </a:rPr>
              <a:pPr/>
              <a:t>9</a:t>
            </a:fld>
            <a:endParaRPr lang="it-IT" b="1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08DD9030-B8A4-A3EF-1D3E-7C00BEFBA8E1}"/>
              </a:ext>
            </a:extLst>
          </p:cNvPr>
          <p:cNvSpPr txBox="1"/>
          <p:nvPr/>
        </p:nvSpPr>
        <p:spPr>
          <a:xfrm>
            <a:off x="167491" y="2274838"/>
            <a:ext cx="438625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1600" dirty="0"/>
              <a:t>The parallelization is applied to the outer loop that processes the input dataset.</a:t>
            </a:r>
          </a:p>
          <a:p>
            <a:pPr lvl="1"/>
            <a:endParaRPr lang="en-US" sz="1600" dirty="0"/>
          </a:p>
          <a:p>
            <a:pPr lvl="1"/>
            <a:r>
              <a:rPr lang="en-US" sz="1600" dirty="0"/>
              <a:t>Each thread works on an independent subset of the data and maintains its own local n-gram maps.</a:t>
            </a:r>
          </a:p>
          <a:p>
            <a:pPr lvl="1"/>
            <a:endParaRPr lang="en-US" sz="1600" dirty="0"/>
          </a:p>
          <a:p>
            <a:pPr lvl="1"/>
            <a:r>
              <a:rPr lang="en-US" sz="1600" dirty="0"/>
              <a:t>This design avoids synchronization during the counting phase and eliminates data races.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E1CF6CAA-F9D4-60D5-293A-A74C74A545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7974" y="1767067"/>
            <a:ext cx="4549534" cy="4259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3596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C2F017-432B-4C80-2290-D7E42CD16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Immagine 29">
            <a:extLst>
              <a:ext uri="{FF2B5EF4-FFF2-40B4-BE49-F238E27FC236}">
                <a16:creationId xmlns:a16="http://schemas.microsoft.com/office/drawing/2014/main" id="{E3B26560-19A3-592A-50DF-36142A967C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6512" y="0"/>
            <a:ext cx="9180512" cy="6872633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D903DBA5-07D1-8C2C-DC6E-159CEC4EBAF6}"/>
              </a:ext>
            </a:extLst>
          </p:cNvPr>
          <p:cNvSpPr txBox="1"/>
          <p:nvPr/>
        </p:nvSpPr>
        <p:spPr>
          <a:xfrm>
            <a:off x="569913" y="1305402"/>
            <a:ext cx="54695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Merge </a:t>
            </a:r>
            <a:r>
              <a:rPr lang="it-IT" sz="2400" b="1" dirty="0" err="1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Phase</a:t>
            </a:r>
            <a:endParaRPr lang="it-IT" sz="2400" b="1" dirty="0">
              <a:solidFill>
                <a:schemeClr val="accent1">
                  <a:lumMod val="75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ADC2B60E-35E2-27B8-01C6-B35B03AA3F8F}"/>
              </a:ext>
            </a:extLst>
          </p:cNvPr>
          <p:cNvSpPr txBox="1"/>
          <p:nvPr/>
        </p:nvSpPr>
        <p:spPr>
          <a:xfrm>
            <a:off x="648253" y="170511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it-IT" dirty="0">
              <a:latin typeface="Arial"/>
              <a:cs typeface="Arial"/>
            </a:endParaRP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7EF877A2-7357-04E7-0169-2AE31ACB03AB}"/>
              </a:ext>
            </a:extLst>
          </p:cNvPr>
          <p:cNvSpPr/>
          <p:nvPr/>
        </p:nvSpPr>
        <p:spPr>
          <a:xfrm>
            <a:off x="8255000" y="6366466"/>
            <a:ext cx="280763" cy="501650"/>
          </a:xfrm>
          <a:prstGeom prst="rect">
            <a:avLst/>
          </a:prstGeom>
          <a:solidFill>
            <a:srgbClr val="00305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03257"/>
              </a:solidFill>
            </a:endParaRPr>
          </a:p>
        </p:txBody>
      </p:sp>
      <p:sp>
        <p:nvSpPr>
          <p:cNvPr id="11" name="Segnaposto numero diapositiva 10">
            <a:extLst>
              <a:ext uri="{FF2B5EF4-FFF2-40B4-BE49-F238E27FC236}">
                <a16:creationId xmlns:a16="http://schemas.microsoft.com/office/drawing/2014/main" id="{57F9D401-3B5E-F469-7855-9C58321C2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02163" y="6356350"/>
            <a:ext cx="2133600" cy="365125"/>
          </a:xfrm>
        </p:spPr>
        <p:txBody>
          <a:bodyPr/>
          <a:lstStyle/>
          <a:p>
            <a:fld id="{8EB8520A-26EA-DE4B-B141-4532FC98FF0E}" type="slidenum">
              <a:rPr lang="it-IT" b="1" smtClean="0">
                <a:solidFill>
                  <a:schemeClr val="bg1"/>
                </a:solidFill>
                <a:latin typeface="Arial"/>
                <a:cs typeface="Arial"/>
              </a:rPr>
              <a:pPr/>
              <a:t>10</a:t>
            </a:fld>
            <a:endParaRPr lang="it-IT" b="1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08DD9030-B8A4-A3EF-1D3E-7C00BEFBA8E1}"/>
              </a:ext>
            </a:extLst>
          </p:cNvPr>
          <p:cNvSpPr txBox="1"/>
          <p:nvPr/>
        </p:nvSpPr>
        <p:spPr>
          <a:xfrm>
            <a:off x="276349" y="2063777"/>
            <a:ext cx="4143252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4625" lvl="1"/>
            <a:r>
              <a:rPr lang="en-US" sz="1600" dirty="0"/>
              <a:t>After the parallel counting phase, the local n-gram maps produced by </a:t>
            </a:r>
            <a:r>
              <a:rPr lang="en-US" sz="1600" b="1" dirty="0"/>
              <a:t>each thread are merged into a single global map</a:t>
            </a:r>
            <a:r>
              <a:rPr lang="en-US" sz="1600" dirty="0"/>
              <a:t>.</a:t>
            </a:r>
          </a:p>
          <a:p>
            <a:pPr marL="174625" lvl="1"/>
            <a:endParaRPr lang="en-US" sz="1600" dirty="0"/>
          </a:p>
          <a:p>
            <a:pPr marL="174625" lvl="1"/>
            <a:r>
              <a:rPr lang="en-US" sz="1600" dirty="0"/>
              <a:t>The merge operation is executed sequentially and represents the only serial section of the timed counting workflow.</a:t>
            </a:r>
          </a:p>
          <a:p>
            <a:pPr marL="174625" lvl="1"/>
            <a:r>
              <a:rPr lang="en-US" sz="1600" dirty="0"/>
              <a:t>The merge is performed once for each n-gram category (4 merges in total).</a:t>
            </a:r>
          </a:p>
          <a:p>
            <a:pPr marL="174625" lvl="1"/>
            <a:endParaRPr lang="en-US" sz="1600" dirty="0"/>
          </a:p>
          <a:p>
            <a:pPr marL="174625" lvl="1"/>
            <a:r>
              <a:rPr lang="en-US" sz="1600" dirty="0"/>
              <a:t>This phase introduces overhead and limits the maximum achievable speedup, according to </a:t>
            </a:r>
            <a:r>
              <a:rPr lang="en-US" sz="1600" b="1" dirty="0"/>
              <a:t>Amdahl’s Law</a:t>
            </a:r>
            <a:r>
              <a:rPr lang="en-US" sz="1600" dirty="0"/>
              <a:t>.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9D7CD726-6252-8AD5-F236-9C09AFC384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2737" y="1955311"/>
            <a:ext cx="4463433" cy="3776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3303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E76629-B036-CACE-D165-1D96D5644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B35A59E3-BDE0-D3F4-AFF2-6EE395D1D8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6512" y="55405"/>
            <a:ext cx="9180512" cy="6872633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B48FF3D4-5F29-8371-AD23-D8E992F56B9F}"/>
              </a:ext>
            </a:extLst>
          </p:cNvPr>
          <p:cNvSpPr txBox="1"/>
          <p:nvPr/>
        </p:nvSpPr>
        <p:spPr>
          <a:xfrm>
            <a:off x="951462" y="970734"/>
            <a:ext cx="69450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Most Frequent N-grams (100K vs 1M datasets)</a:t>
            </a:r>
            <a:endParaRPr lang="it-IT" sz="2400" b="1" dirty="0">
              <a:solidFill>
                <a:schemeClr val="accent1">
                  <a:lumMod val="75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3311B28E-2D5E-0A17-4E18-2DA3DAFDE49B}"/>
              </a:ext>
            </a:extLst>
          </p:cNvPr>
          <p:cNvSpPr txBox="1"/>
          <p:nvPr/>
        </p:nvSpPr>
        <p:spPr>
          <a:xfrm>
            <a:off x="648253" y="170511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it-IT" dirty="0">
              <a:latin typeface="Arial"/>
              <a:cs typeface="Arial"/>
            </a:endParaRP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F0B77129-F1D3-A412-9185-06220DCF621F}"/>
              </a:ext>
            </a:extLst>
          </p:cNvPr>
          <p:cNvSpPr/>
          <p:nvPr/>
        </p:nvSpPr>
        <p:spPr>
          <a:xfrm>
            <a:off x="8255000" y="6366466"/>
            <a:ext cx="280763" cy="501650"/>
          </a:xfrm>
          <a:prstGeom prst="rect">
            <a:avLst/>
          </a:prstGeom>
          <a:solidFill>
            <a:srgbClr val="00305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03257"/>
              </a:solidFill>
            </a:endParaRPr>
          </a:p>
        </p:txBody>
      </p:sp>
      <p:sp>
        <p:nvSpPr>
          <p:cNvPr id="11" name="Segnaposto numero diapositiva 10">
            <a:extLst>
              <a:ext uri="{FF2B5EF4-FFF2-40B4-BE49-F238E27FC236}">
                <a16:creationId xmlns:a16="http://schemas.microsoft.com/office/drawing/2014/main" id="{1163F2AD-D7F5-F41A-CC2E-F139CF7D3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02163" y="6356350"/>
            <a:ext cx="2133600" cy="365125"/>
          </a:xfrm>
        </p:spPr>
        <p:txBody>
          <a:bodyPr/>
          <a:lstStyle/>
          <a:p>
            <a:fld id="{8EB8520A-26EA-DE4B-B141-4532FC98FF0E}" type="slidenum">
              <a:rPr lang="it-IT" b="1" smtClean="0">
                <a:solidFill>
                  <a:schemeClr val="bg1"/>
                </a:solidFill>
                <a:latin typeface="Arial"/>
                <a:cs typeface="Arial"/>
              </a:rPr>
              <a:pPr/>
              <a:t>11</a:t>
            </a:fld>
            <a:endParaRPr lang="it-IT" b="1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pic>
        <p:nvPicPr>
          <p:cNvPr id="20" name="Immagine 19">
            <a:extLst>
              <a:ext uri="{FF2B5EF4-FFF2-40B4-BE49-F238E27FC236}">
                <a16:creationId xmlns:a16="http://schemas.microsoft.com/office/drawing/2014/main" id="{3E82D0C9-2658-5F08-F3C0-593AFC1976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984" y="2173401"/>
            <a:ext cx="7204564" cy="4587401"/>
          </a:xfrm>
          <a:prstGeom prst="rect">
            <a:avLst/>
          </a:prstGeom>
        </p:spPr>
      </p:pic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E758DEC6-B1E6-5DCC-60AF-28C886A1F637}"/>
              </a:ext>
            </a:extLst>
          </p:cNvPr>
          <p:cNvSpPr txBox="1"/>
          <p:nvPr/>
        </p:nvSpPr>
        <p:spPr>
          <a:xfrm>
            <a:off x="832984" y="1632005"/>
            <a:ext cx="77967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The ranking of the most frequent n-grams remains stable across dataset sizes.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9569192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364EC5-2F1D-0ADC-C4FD-EFF598703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4B5B05B5-8506-6466-9F01-F108E0A810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2490" y="0"/>
            <a:ext cx="9180512" cy="6872633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C8F24B3C-9EA2-425F-2060-FDFE868D88F9}"/>
              </a:ext>
            </a:extLst>
          </p:cNvPr>
          <p:cNvSpPr txBox="1"/>
          <p:nvPr/>
        </p:nvSpPr>
        <p:spPr>
          <a:xfrm>
            <a:off x="648252" y="1305402"/>
            <a:ext cx="61770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b="1" dirty="0" err="1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Execution</a:t>
            </a:r>
            <a:r>
              <a:rPr lang="it-IT" sz="24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 Times (</a:t>
            </a:r>
            <a:r>
              <a:rPr lang="it-IT" sz="2400" b="1" dirty="0" err="1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Averaged</a:t>
            </a:r>
            <a:r>
              <a:rPr lang="it-IT" sz="24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 </a:t>
            </a:r>
            <a:r>
              <a:rPr lang="it-IT" sz="2400" b="1" dirty="0" err="1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Results</a:t>
            </a:r>
            <a:r>
              <a:rPr lang="it-IT" sz="24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)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04023B30-45FB-A110-7128-83FFE08239CF}"/>
              </a:ext>
            </a:extLst>
          </p:cNvPr>
          <p:cNvSpPr txBox="1"/>
          <p:nvPr/>
        </p:nvSpPr>
        <p:spPr>
          <a:xfrm>
            <a:off x="648253" y="170511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it-IT" dirty="0">
              <a:latin typeface="Arial"/>
              <a:cs typeface="Arial"/>
            </a:endParaRP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2CD1AEA2-7B44-B324-7B9F-70FCE87DB4AB}"/>
              </a:ext>
            </a:extLst>
          </p:cNvPr>
          <p:cNvSpPr/>
          <p:nvPr/>
        </p:nvSpPr>
        <p:spPr>
          <a:xfrm>
            <a:off x="8255000" y="6366466"/>
            <a:ext cx="280763" cy="501650"/>
          </a:xfrm>
          <a:prstGeom prst="rect">
            <a:avLst/>
          </a:prstGeom>
          <a:solidFill>
            <a:srgbClr val="00305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03257"/>
              </a:solidFill>
            </a:endParaRPr>
          </a:p>
        </p:txBody>
      </p:sp>
      <p:sp>
        <p:nvSpPr>
          <p:cNvPr id="11" name="Segnaposto numero diapositiva 10">
            <a:extLst>
              <a:ext uri="{FF2B5EF4-FFF2-40B4-BE49-F238E27FC236}">
                <a16:creationId xmlns:a16="http://schemas.microsoft.com/office/drawing/2014/main" id="{5D669C41-14B6-E5AF-230E-9E08ABDE3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02163" y="6356350"/>
            <a:ext cx="2133600" cy="365125"/>
          </a:xfrm>
        </p:spPr>
        <p:txBody>
          <a:bodyPr/>
          <a:lstStyle/>
          <a:p>
            <a:fld id="{8EB8520A-26EA-DE4B-B141-4532FC98FF0E}" type="slidenum">
              <a:rPr lang="it-IT" b="1" smtClean="0">
                <a:solidFill>
                  <a:schemeClr val="bg1"/>
                </a:solidFill>
                <a:latin typeface="Arial"/>
                <a:cs typeface="Arial"/>
              </a:rPr>
              <a:pPr/>
              <a:t>12</a:t>
            </a:fld>
            <a:endParaRPr lang="it-IT" b="1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C40298A4-026C-3622-5178-62F3FBB75F3B}"/>
              </a:ext>
            </a:extLst>
          </p:cNvPr>
          <p:cNvSpPr txBox="1"/>
          <p:nvPr/>
        </p:nvSpPr>
        <p:spPr>
          <a:xfrm>
            <a:off x="6255320" y="2668089"/>
            <a:ext cx="2971800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• 3 independent runs were executed for each dataset</a:t>
            </a:r>
          </a:p>
          <a:p>
            <a:pPr marL="174625"/>
            <a:endParaRPr lang="en-US" sz="1400" dirty="0"/>
          </a:p>
          <a:p>
            <a:r>
              <a:rPr lang="en-US" sz="1400" dirty="0"/>
              <a:t>• Execution times were measured for each n-gram category</a:t>
            </a:r>
          </a:p>
          <a:p>
            <a:endParaRPr lang="en-US" sz="1400" dirty="0"/>
          </a:p>
          <a:p>
            <a:r>
              <a:rPr lang="en-US" sz="1400" dirty="0"/>
              <a:t>• Reported values are averages over the 3 runs</a:t>
            </a:r>
          </a:p>
          <a:p>
            <a:endParaRPr lang="en-US" sz="1400" dirty="0"/>
          </a:p>
          <a:p>
            <a:r>
              <a:rPr lang="en-US" sz="1400" dirty="0"/>
              <a:t>• Speedup is computed from averaged times</a:t>
            </a:r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79195F6A-44DC-5EB4-2813-83375C1E60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253" y="2017217"/>
            <a:ext cx="5369773" cy="3382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51832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364EC5-2F1D-0ADC-C4FD-EFF598703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4B5B05B5-8506-6466-9F01-F108E0A810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80512" cy="6872633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C8F24B3C-9EA2-425F-2060-FDFE868D88F9}"/>
              </a:ext>
            </a:extLst>
          </p:cNvPr>
          <p:cNvSpPr txBox="1"/>
          <p:nvPr/>
        </p:nvSpPr>
        <p:spPr>
          <a:xfrm>
            <a:off x="648252" y="1305402"/>
            <a:ext cx="61770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b="1" dirty="0" err="1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Results</a:t>
            </a:r>
            <a:r>
              <a:rPr lang="it-IT" sz="24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: Speed Up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04023B30-45FB-A110-7128-83FFE08239CF}"/>
              </a:ext>
            </a:extLst>
          </p:cNvPr>
          <p:cNvSpPr txBox="1"/>
          <p:nvPr/>
        </p:nvSpPr>
        <p:spPr>
          <a:xfrm>
            <a:off x="648253" y="170511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it-IT" dirty="0">
              <a:latin typeface="Arial"/>
              <a:cs typeface="Arial"/>
            </a:endParaRP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2CD1AEA2-7B44-B324-7B9F-70FCE87DB4AB}"/>
              </a:ext>
            </a:extLst>
          </p:cNvPr>
          <p:cNvSpPr/>
          <p:nvPr/>
        </p:nvSpPr>
        <p:spPr>
          <a:xfrm>
            <a:off x="8255000" y="6366466"/>
            <a:ext cx="280763" cy="501650"/>
          </a:xfrm>
          <a:prstGeom prst="rect">
            <a:avLst/>
          </a:prstGeom>
          <a:solidFill>
            <a:srgbClr val="00305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03257"/>
              </a:solidFill>
            </a:endParaRPr>
          </a:p>
        </p:txBody>
      </p:sp>
      <p:sp>
        <p:nvSpPr>
          <p:cNvPr id="11" name="Segnaposto numero diapositiva 10">
            <a:extLst>
              <a:ext uri="{FF2B5EF4-FFF2-40B4-BE49-F238E27FC236}">
                <a16:creationId xmlns:a16="http://schemas.microsoft.com/office/drawing/2014/main" id="{5D669C41-14B6-E5AF-230E-9E08ABDE3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02163" y="6356350"/>
            <a:ext cx="2133600" cy="365125"/>
          </a:xfrm>
        </p:spPr>
        <p:txBody>
          <a:bodyPr/>
          <a:lstStyle/>
          <a:p>
            <a:fld id="{8EB8520A-26EA-DE4B-B141-4532FC98FF0E}" type="slidenum">
              <a:rPr lang="it-IT" b="1" smtClean="0">
                <a:solidFill>
                  <a:schemeClr val="bg1"/>
                </a:solidFill>
                <a:latin typeface="Arial"/>
                <a:cs typeface="Arial"/>
              </a:rPr>
              <a:pPr/>
              <a:t>13</a:t>
            </a:fld>
            <a:endParaRPr lang="it-IT" b="1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C40298A4-026C-3622-5178-62F3FBB75F3B}"/>
              </a:ext>
            </a:extLst>
          </p:cNvPr>
          <p:cNvSpPr txBox="1"/>
          <p:nvPr/>
        </p:nvSpPr>
        <p:spPr>
          <a:xfrm>
            <a:off x="6112382" y="2768699"/>
            <a:ext cx="29718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Character n-grams achieve significantly higher speedup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Speedup increases when moving from 100K to 1M sentences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Word trigrams show limited improvement due to overhead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D4DDEB20-BE81-FEEA-B956-DA67289464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139" y="2098205"/>
            <a:ext cx="5857403" cy="3458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71630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93DEC-4753-A720-511D-6529FEC571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F15D4023-462D-0A9F-9527-686E010B5E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2490" y="-14633"/>
            <a:ext cx="9180512" cy="6872633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7FF8D010-517D-9338-5445-09974B0A8F79}"/>
              </a:ext>
            </a:extLst>
          </p:cNvPr>
          <p:cNvSpPr txBox="1"/>
          <p:nvPr/>
        </p:nvSpPr>
        <p:spPr>
          <a:xfrm>
            <a:off x="463195" y="1046519"/>
            <a:ext cx="61770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Performance Analysis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BAA42A39-2886-920E-0068-72AF8E88F437}"/>
              </a:ext>
            </a:extLst>
          </p:cNvPr>
          <p:cNvSpPr txBox="1"/>
          <p:nvPr/>
        </p:nvSpPr>
        <p:spPr>
          <a:xfrm>
            <a:off x="648253" y="170511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it-IT" dirty="0">
              <a:latin typeface="Arial"/>
              <a:cs typeface="Arial"/>
            </a:endParaRP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F4FC9A29-64F9-EE7C-A113-83A8B8E45700}"/>
              </a:ext>
            </a:extLst>
          </p:cNvPr>
          <p:cNvSpPr/>
          <p:nvPr/>
        </p:nvSpPr>
        <p:spPr>
          <a:xfrm>
            <a:off x="8255000" y="6366466"/>
            <a:ext cx="280763" cy="501650"/>
          </a:xfrm>
          <a:prstGeom prst="rect">
            <a:avLst/>
          </a:prstGeom>
          <a:solidFill>
            <a:srgbClr val="00305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03257"/>
              </a:solidFill>
            </a:endParaRPr>
          </a:p>
        </p:txBody>
      </p:sp>
      <p:sp>
        <p:nvSpPr>
          <p:cNvPr id="11" name="Segnaposto numero diapositiva 10">
            <a:extLst>
              <a:ext uri="{FF2B5EF4-FFF2-40B4-BE49-F238E27FC236}">
                <a16:creationId xmlns:a16="http://schemas.microsoft.com/office/drawing/2014/main" id="{96AFFF8D-796C-ADB9-D780-05A89AD08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02163" y="6356350"/>
            <a:ext cx="2133600" cy="365125"/>
          </a:xfrm>
        </p:spPr>
        <p:txBody>
          <a:bodyPr/>
          <a:lstStyle/>
          <a:p>
            <a:fld id="{8EB8520A-26EA-DE4B-B141-4532FC98FF0E}" type="slidenum">
              <a:rPr lang="it-IT" b="1" smtClean="0">
                <a:solidFill>
                  <a:schemeClr val="bg1"/>
                </a:solidFill>
                <a:latin typeface="Arial"/>
                <a:cs typeface="Arial"/>
              </a:rPr>
              <a:pPr/>
              <a:t>14</a:t>
            </a:fld>
            <a:endParaRPr lang="it-IT" b="1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7B7B05AC-EAC8-4F40-C082-69941F1E4A37}"/>
              </a:ext>
            </a:extLst>
          </p:cNvPr>
          <p:cNvSpPr txBox="1"/>
          <p:nvPr/>
        </p:nvSpPr>
        <p:spPr>
          <a:xfrm>
            <a:off x="5780314" y="2074445"/>
            <a:ext cx="2971800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Key observations:</a:t>
            </a:r>
          </a:p>
          <a:p>
            <a:endParaRPr lang="en-US" sz="1400" dirty="0"/>
          </a:p>
          <a:p>
            <a:r>
              <a:rPr lang="en-US" sz="1400" b="1" dirty="0"/>
              <a:t>• Character n-grams scale better</a:t>
            </a:r>
          </a:p>
          <a:p>
            <a:endParaRPr lang="en-US" sz="1400" b="1" dirty="0"/>
          </a:p>
          <a:p>
            <a:r>
              <a:rPr lang="en-US" sz="1400" b="1" dirty="0"/>
              <a:t>• Word trigrams are merge-bound</a:t>
            </a:r>
          </a:p>
          <a:p>
            <a:endParaRPr lang="en-US" sz="1400" b="1" dirty="0"/>
          </a:p>
          <a:p>
            <a:r>
              <a:rPr lang="en-US" sz="1400" b="1" dirty="0"/>
              <a:t>• Merge phase is the main serial bottleneck</a:t>
            </a:r>
          </a:p>
          <a:p>
            <a:endParaRPr lang="en-US" sz="1400" b="1" dirty="0"/>
          </a:p>
          <a:p>
            <a:r>
              <a:rPr lang="en-US" sz="1400" b="1" dirty="0"/>
              <a:t>• Speedup follows Amdahl’s Law</a:t>
            </a:r>
          </a:p>
          <a:p>
            <a:endParaRPr lang="it-IT" sz="1400" dirty="0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AB806E90-819E-9DDF-8753-BCA5B5B9D511}"/>
              </a:ext>
            </a:extLst>
          </p:cNvPr>
          <p:cNvSpPr txBox="1"/>
          <p:nvPr/>
        </p:nvSpPr>
        <p:spPr>
          <a:xfrm>
            <a:off x="477946" y="1751279"/>
            <a:ext cx="490646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The experimental results show a </a:t>
            </a:r>
            <a:r>
              <a:rPr lang="en-US" sz="1400" b="1" dirty="0"/>
              <a:t>clear difference between word-based and character-based n-grams.</a:t>
            </a:r>
          </a:p>
          <a:p>
            <a:endParaRPr lang="en-US" sz="1400" dirty="0"/>
          </a:p>
          <a:p>
            <a:r>
              <a:rPr lang="en-US" sz="1400" dirty="0"/>
              <a:t>Character n-grams achieve higher speedup due to shorter keys,</a:t>
            </a:r>
          </a:p>
          <a:p>
            <a:r>
              <a:rPr lang="en-US" sz="1400" dirty="0"/>
              <a:t>a smaller number of distinct n-grams, and more regular workloads.</a:t>
            </a:r>
          </a:p>
          <a:p>
            <a:endParaRPr lang="en-US" sz="1400" dirty="0"/>
          </a:p>
          <a:p>
            <a:r>
              <a:rPr lang="en-US" sz="1400" dirty="0"/>
              <a:t>Word trigrams generate many unique keys and require more memory operations during the merge phase, which increases overhead and limits scalability.</a:t>
            </a:r>
          </a:p>
          <a:p>
            <a:endParaRPr lang="en-US" sz="1400" dirty="0"/>
          </a:p>
          <a:p>
            <a:r>
              <a:rPr lang="en-US" sz="1400" dirty="0"/>
              <a:t>Increasing the dataset size </a:t>
            </a:r>
            <a:r>
              <a:rPr lang="en-US" sz="1400" b="1" dirty="0"/>
              <a:t>from 100K to 1M sentences amortizes parallel overhead, leading to higher speedup values</a:t>
            </a:r>
            <a:r>
              <a:rPr lang="en-US" sz="1400" dirty="0"/>
              <a:t>.</a:t>
            </a:r>
          </a:p>
          <a:p>
            <a:endParaRPr lang="it-IT" sz="1400" dirty="0"/>
          </a:p>
        </p:txBody>
      </p:sp>
    </p:spTree>
    <p:extLst>
      <p:ext uri="{BB962C8B-B14F-4D97-AF65-F5344CB8AC3E}">
        <p14:creationId xmlns:p14="http://schemas.microsoft.com/office/powerpoint/2010/main" val="15894475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EBC411-F92C-A3CF-580F-28A3EB8455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D5661CD1-CF2A-B88B-A262-1ED954B7D0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2490" y="0"/>
            <a:ext cx="9180512" cy="6872633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75480B32-744D-EF11-D2BE-1D1F74750914}"/>
              </a:ext>
            </a:extLst>
          </p:cNvPr>
          <p:cNvSpPr txBox="1"/>
          <p:nvPr/>
        </p:nvSpPr>
        <p:spPr>
          <a:xfrm>
            <a:off x="648252" y="1305402"/>
            <a:ext cx="61770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b="1" dirty="0" err="1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Conclusions</a:t>
            </a:r>
            <a:endParaRPr lang="it-IT" sz="2400" b="1" dirty="0">
              <a:solidFill>
                <a:schemeClr val="accent1">
                  <a:lumMod val="75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51C52A0F-6453-1EA0-4A95-56528B0775F6}"/>
              </a:ext>
            </a:extLst>
          </p:cNvPr>
          <p:cNvSpPr txBox="1"/>
          <p:nvPr/>
        </p:nvSpPr>
        <p:spPr>
          <a:xfrm>
            <a:off x="648253" y="170511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it-IT" dirty="0">
              <a:latin typeface="Arial"/>
              <a:cs typeface="Arial"/>
            </a:endParaRP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AC12C345-3117-7B02-86D1-D7EE6E72993E}"/>
              </a:ext>
            </a:extLst>
          </p:cNvPr>
          <p:cNvSpPr/>
          <p:nvPr/>
        </p:nvSpPr>
        <p:spPr>
          <a:xfrm>
            <a:off x="8255000" y="6366466"/>
            <a:ext cx="280763" cy="501650"/>
          </a:xfrm>
          <a:prstGeom prst="rect">
            <a:avLst/>
          </a:prstGeom>
          <a:solidFill>
            <a:srgbClr val="00305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03257"/>
              </a:solidFill>
            </a:endParaRPr>
          </a:p>
        </p:txBody>
      </p:sp>
      <p:sp>
        <p:nvSpPr>
          <p:cNvPr id="11" name="Segnaposto numero diapositiva 10">
            <a:extLst>
              <a:ext uri="{FF2B5EF4-FFF2-40B4-BE49-F238E27FC236}">
                <a16:creationId xmlns:a16="http://schemas.microsoft.com/office/drawing/2014/main" id="{716E32D6-2619-2166-34C2-210D33358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02163" y="6356350"/>
            <a:ext cx="2133600" cy="365125"/>
          </a:xfrm>
        </p:spPr>
        <p:txBody>
          <a:bodyPr/>
          <a:lstStyle/>
          <a:p>
            <a:fld id="{8EB8520A-26EA-DE4B-B141-4532FC98FF0E}" type="slidenum">
              <a:rPr lang="it-IT" b="1" smtClean="0">
                <a:solidFill>
                  <a:schemeClr val="bg1"/>
                </a:solidFill>
                <a:latin typeface="Arial"/>
                <a:cs typeface="Arial"/>
              </a:rPr>
              <a:pPr/>
              <a:t>15</a:t>
            </a:fld>
            <a:endParaRPr lang="it-IT" b="1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0E59838A-B024-E9D0-671E-AA5162623DF1}"/>
              </a:ext>
            </a:extLst>
          </p:cNvPr>
          <p:cNvSpPr txBox="1"/>
          <p:nvPr/>
        </p:nvSpPr>
        <p:spPr>
          <a:xfrm>
            <a:off x="648252" y="2074445"/>
            <a:ext cx="810386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• </a:t>
            </a:r>
            <a:r>
              <a:rPr lang="en-US" sz="1400" b="1" dirty="0"/>
              <a:t>Parallelization Strategy:</a:t>
            </a:r>
          </a:p>
          <a:p>
            <a:r>
              <a:rPr lang="en-US" sz="1400" dirty="0"/>
              <a:t>  OpenMP parallelization is effective when applied to independent  data chunks, as in n-gram counting over large text corpora.</a:t>
            </a:r>
          </a:p>
          <a:p>
            <a:endParaRPr lang="en-US" sz="1400" dirty="0"/>
          </a:p>
          <a:p>
            <a:r>
              <a:rPr lang="en-US" sz="1400" dirty="0"/>
              <a:t>• </a:t>
            </a:r>
            <a:r>
              <a:rPr lang="en-US" sz="1400" b="1" dirty="0"/>
              <a:t>Data Characteristics:</a:t>
            </a:r>
          </a:p>
          <a:p>
            <a:r>
              <a:rPr lang="en-US" sz="1400" dirty="0"/>
              <a:t>  Character-based n-grams scale better due to shorter keys and  fewer distinct elements, while word-based</a:t>
            </a:r>
          </a:p>
          <a:p>
            <a:r>
              <a:rPr lang="en-US" sz="1400" dirty="0"/>
              <a:t> n-grams suffer from  higher memory and merge overhead.</a:t>
            </a:r>
          </a:p>
          <a:p>
            <a:endParaRPr lang="en-US" sz="1400" dirty="0"/>
          </a:p>
          <a:p>
            <a:r>
              <a:rPr lang="en-US" sz="1400" dirty="0"/>
              <a:t>• </a:t>
            </a:r>
            <a:r>
              <a:rPr lang="en-US" sz="1400" b="1" dirty="0"/>
              <a:t>Scalability Limits:</a:t>
            </a:r>
          </a:p>
          <a:p>
            <a:r>
              <a:rPr lang="en-US" sz="1400" dirty="0"/>
              <a:t>  The merge phase represents the main serial bottleneck and limits speedup, consistently with Amdahl’s Law.</a:t>
            </a:r>
          </a:p>
        </p:txBody>
      </p:sp>
    </p:spTree>
    <p:extLst>
      <p:ext uri="{BB962C8B-B14F-4D97-AF65-F5344CB8AC3E}">
        <p14:creationId xmlns:p14="http://schemas.microsoft.com/office/powerpoint/2010/main" val="166820989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2539</TotalTime>
  <Words>878</Words>
  <Application>Microsoft Office PowerPoint</Application>
  <PresentationFormat>Presentazione su schermo (4:3)</PresentationFormat>
  <Paragraphs>150</Paragraphs>
  <Slides>15</Slides>
  <Notes>14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2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15</vt:i4>
      </vt:variant>
    </vt:vector>
  </HeadingPairs>
  <TitlesOfParts>
    <vt:vector size="18" baseType="lpstr">
      <vt:lpstr>Arial</vt:lpstr>
      <vt:lpstr>Calibri</vt:lpstr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di PowerPoint</dc:title>
  <dc:creator>susanna</dc:creator>
  <cp:lastModifiedBy>Andrea Bigagli</cp:lastModifiedBy>
  <cp:revision>39</cp:revision>
  <dcterms:created xsi:type="dcterms:W3CDTF">2012-12-06T09:21:12Z</dcterms:created>
  <dcterms:modified xsi:type="dcterms:W3CDTF">2026-02-17T15:12:41Z</dcterms:modified>
</cp:coreProperties>
</file>